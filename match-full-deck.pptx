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notesMasterIdLst>
    <p:notesMasterId r:id="rId14"/>
  </p:notesMasterIdLst>
  <p:sldSz cx="12191695" cy="6858000"/>
  <p:notesSz cx="6858000" cy="12191695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notesMaster" Target="notesMasters/notesMaster1.xml"/><Relationship Id="rId15" Type="http://schemas.openxmlformats.org/officeDocument/2006/relationships/presProps" Target="presProps.xml"/><Relationship Id="rId16" Type="http://schemas.openxmlformats.org/officeDocument/2006/relationships/viewProps" Target="viewProps.xml"/><Relationship Id="rId17" Type="http://schemas.openxmlformats.org/officeDocument/2006/relationships/theme" Target="theme/theme1.xml"/><Relationship Id="rId18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EAF3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280160"/>
          </a:xfrm>
          <a:prstGeom prst="rect">
            <a:avLst/>
          </a:prstGeom>
          <a:solidFill>
            <a:srgbClr val="D9EAE8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5760720"/>
            <a:ext cx="12191695" cy="1097280"/>
          </a:xfrm>
          <a:prstGeom prst="rect">
            <a:avLst/>
          </a:prstGeom>
          <a:solidFill>
            <a:srgbClr val="FBF3C4"/>
          </a:solidFill>
          <a:ln/>
        </p:spPr>
      </p:sp>
      <p:sp>
        <p:nvSpPr>
          <p:cNvPr id="4" name="Shape 2"/>
          <p:cNvSpPr/>
          <p:nvPr/>
        </p:nvSpPr>
        <p:spPr>
          <a:xfrm>
            <a:off x="914400" y="822960"/>
            <a:ext cx="10362895" cy="5120640"/>
          </a:xfrm>
          <a:prstGeom prst="rect">
            <a:avLst/>
          </a:prstGeom>
          <a:solidFill>
            <a:srgbClr val="FFFFFF"/>
          </a:solidFill>
          <a:ln w="19050">
            <a:solidFill>
              <a:srgbClr val="2A2A28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1188720" y="502920"/>
            <a:ext cx="1463040" cy="914400"/>
          </a:xfrm>
          <a:prstGeom prst="rect">
            <a:avLst/>
          </a:prstGeom>
          <a:solidFill>
            <a:srgbClr val="5F8A8A"/>
          </a:solidFill>
          <a:ln/>
        </p:spPr>
      </p:sp>
      <p:sp>
        <p:nvSpPr>
          <p:cNvPr id="6" name="Text 4"/>
          <p:cNvSpPr/>
          <p:nvPr/>
        </p:nvSpPr>
        <p:spPr>
          <a:xfrm>
            <a:off x="1188720" y="502920"/>
            <a:ext cx="146304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2026年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発表版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1371600" y="1463040"/>
            <a:ext cx="9448495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3D6B6B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AIで出会う、愛媛の旅。スワイプして、あなただけの旅をデザイン 🍊</a:t>
            </a:r>
            <a:endParaRPr lang="en-US" sz="1700" dirty="0"/>
          </a:p>
        </p:txBody>
      </p:sp>
      <p:sp>
        <p:nvSpPr>
          <p:cNvPr id="8" name="Text 6"/>
          <p:cNvSpPr/>
          <p:nvPr/>
        </p:nvSpPr>
        <p:spPr>
          <a:xfrm>
            <a:off x="1371600" y="2286000"/>
            <a:ext cx="9448495" cy="1828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2A2A28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愛媛県観光AI</a:t>
            </a:r>
            <a:endParaRPr lang="en-US" sz="4000" dirty="0"/>
          </a:p>
          <a:p>
            <a:pPr algn="ctr" indent="0" marL="0">
              <a:buNone/>
            </a:pPr>
            <a:r>
              <a:rPr lang="en-US" sz="4000" b="1" dirty="0">
                <a:solidFill>
                  <a:srgbClr val="2A2A28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マッチングアプリ「Match」</a:t>
            </a:r>
            <a:endParaRPr lang="en-US" sz="4000" dirty="0"/>
          </a:p>
        </p:txBody>
      </p:sp>
      <p:sp>
        <p:nvSpPr>
          <p:cNvPr id="9" name="Text 7"/>
          <p:cNvSpPr/>
          <p:nvPr/>
        </p:nvSpPr>
        <p:spPr>
          <a:xfrm>
            <a:off x="1371600" y="4297680"/>
            <a:ext cx="9448495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2A2A28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選んだテーマ　重ねるマップ
</a:t>
            </a:r>
            <a:pPr algn="ctr" indent="0" marL="0">
              <a:buNone/>
            </a:pPr>
            <a:r>
              <a:rPr lang="en-US" sz="1500" dirty="0">
                <a:solidFill>
                  <a:srgbClr val="2A2A28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発表者：Match｜人間環境大学</a:t>
            </a:r>
            <a:endParaRPr lang="en-US" sz="16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01168" cy="6858000"/>
          </a:xfrm>
          <a:prstGeom prst="rect">
            <a:avLst/>
          </a:prstGeom>
          <a:solidFill>
            <a:srgbClr val="5F8A8A"/>
          </a:solidFill>
          <a:ln/>
        </p:spPr>
      </p:sp>
      <p:sp>
        <p:nvSpPr>
          <p:cNvPr id="3" name="Shape 1"/>
          <p:cNvSpPr/>
          <p:nvPr/>
        </p:nvSpPr>
        <p:spPr>
          <a:xfrm>
            <a:off x="11990527" y="0"/>
            <a:ext cx="201168" cy="6858000"/>
          </a:xfrm>
          <a:prstGeom prst="rect">
            <a:avLst/>
          </a:prstGeom>
          <a:solidFill>
            <a:srgbClr val="5F8A8A"/>
          </a:solidFill>
          <a:ln/>
        </p:spPr>
      </p:sp>
      <p:sp>
        <p:nvSpPr>
          <p:cNvPr id="4" name="Shape 2"/>
          <p:cNvSpPr/>
          <p:nvPr/>
        </p:nvSpPr>
        <p:spPr>
          <a:xfrm>
            <a:off x="3355848" y="256032"/>
            <a:ext cx="5486400" cy="868680"/>
          </a:xfrm>
          <a:prstGeom prst="roundRect">
            <a:avLst>
              <a:gd name="adj" fmla="val 12632"/>
            </a:avLst>
          </a:prstGeom>
          <a:solidFill>
            <a:srgbClr val="FFFFFF"/>
          </a:solidFill>
          <a:ln w="22225">
            <a:solidFill>
              <a:srgbClr val="2A2A28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3355848" y="256032"/>
            <a:ext cx="548640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500" b="1" dirty="0">
                <a:solidFill>
                  <a:srgbClr val="2A2A28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ターゲットユーザーと課題</a:t>
            </a:r>
            <a:endParaRPr lang="en-US" sz="2500" dirty="0"/>
          </a:p>
        </p:txBody>
      </p:sp>
      <p:sp>
        <p:nvSpPr>
          <p:cNvPr id="6" name="Text 4"/>
          <p:cNvSpPr/>
          <p:nvPr/>
        </p:nvSpPr>
        <p:spPr>
          <a:xfrm>
            <a:off x="11551615" y="6400800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3D6B6B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1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1097280" y="1828800"/>
            <a:ext cx="9997135" cy="685800"/>
          </a:xfrm>
          <a:prstGeom prst="rect">
            <a:avLst/>
          </a:prstGeom>
          <a:solidFill>
            <a:srgbClr val="FFFFFF"/>
          </a:solidFill>
          <a:ln w="15875">
            <a:solidFill>
              <a:srgbClr val="2A2A28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1097280" y="1828800"/>
            <a:ext cx="9997135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2A2A28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SNSに頼ると情報が分散して二度手間になる</a:t>
            </a:r>
            <a:endParaRPr lang="en-US" sz="1700" dirty="0"/>
          </a:p>
        </p:txBody>
      </p:sp>
      <p:sp>
        <p:nvSpPr>
          <p:cNvPr id="9" name="Shape 7"/>
          <p:cNvSpPr/>
          <p:nvPr/>
        </p:nvSpPr>
        <p:spPr>
          <a:xfrm>
            <a:off x="1645920" y="2743200"/>
            <a:ext cx="8899855" cy="685800"/>
          </a:xfrm>
          <a:prstGeom prst="rect">
            <a:avLst/>
          </a:prstGeom>
          <a:solidFill>
            <a:srgbClr val="FFFFFF"/>
          </a:solidFill>
          <a:ln w="15875">
            <a:solidFill>
              <a:srgbClr val="2A2A28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1645920" y="2743200"/>
            <a:ext cx="8899855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2A2A28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愛媛県内で遊べる場所を簡単に探したい</a:t>
            </a:r>
            <a:endParaRPr lang="en-US" sz="1700" dirty="0"/>
          </a:p>
        </p:txBody>
      </p:sp>
      <p:sp>
        <p:nvSpPr>
          <p:cNvPr id="11" name="Shape 9"/>
          <p:cNvSpPr/>
          <p:nvPr/>
        </p:nvSpPr>
        <p:spPr>
          <a:xfrm>
            <a:off x="2194560" y="3657600"/>
            <a:ext cx="7802575" cy="685800"/>
          </a:xfrm>
          <a:prstGeom prst="rect">
            <a:avLst/>
          </a:prstGeom>
          <a:solidFill>
            <a:srgbClr val="FFFFFF"/>
          </a:solidFill>
          <a:ln w="15875">
            <a:solidFill>
              <a:srgbClr val="2A2A28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2194560" y="3657600"/>
            <a:ext cx="7802575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2A2A28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多い観光地の中から選ぶのが大変</a:t>
            </a:r>
            <a:endParaRPr lang="en-US" sz="1700" dirty="0"/>
          </a:p>
        </p:txBody>
      </p:sp>
      <p:sp>
        <p:nvSpPr>
          <p:cNvPr id="13" name="Shape 11"/>
          <p:cNvSpPr/>
          <p:nvPr/>
        </p:nvSpPr>
        <p:spPr>
          <a:xfrm>
            <a:off x="2743200" y="4572000"/>
            <a:ext cx="6705295" cy="685800"/>
          </a:xfrm>
          <a:prstGeom prst="rect">
            <a:avLst/>
          </a:prstGeom>
          <a:solidFill>
            <a:srgbClr val="FFFFFF"/>
          </a:solidFill>
          <a:ln w="15875">
            <a:solidFill>
              <a:srgbClr val="2A2A28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2743200" y="4572000"/>
            <a:ext cx="6705295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2A2A28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「愛媛の魅力」を一か所にまとめて発信したい</a:t>
            </a:r>
            <a:endParaRPr lang="en-US" sz="1700" dirty="0"/>
          </a:p>
        </p:txBody>
      </p:sp>
      <p:sp>
        <p:nvSpPr>
          <p:cNvPr id="15" name="Shape 13"/>
          <p:cNvSpPr/>
          <p:nvPr/>
        </p:nvSpPr>
        <p:spPr>
          <a:xfrm>
            <a:off x="640080" y="5989320"/>
            <a:ext cx="10911535" cy="566928"/>
          </a:xfrm>
          <a:prstGeom prst="roundRect">
            <a:avLst>
              <a:gd name="adj" fmla="val 12903"/>
            </a:avLst>
          </a:prstGeom>
          <a:solidFill>
            <a:srgbClr val="FBF3C4"/>
          </a:solidFill>
          <a:ln w="12700">
            <a:solidFill>
              <a:srgbClr val="FCE38A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822960" y="5989320"/>
            <a:ext cx="10545775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50" i="1" dirty="0">
                <a:solidFill>
                  <a:srgbClr val="3D6B6B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「探す側の分かりにくさ」と「伝える側の届きにくさ」を同時に解く。</a:t>
            </a:r>
            <a:endParaRPr lang="en-US" sz="12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01168" cy="6858000"/>
          </a:xfrm>
          <a:prstGeom prst="rect">
            <a:avLst/>
          </a:prstGeom>
          <a:solidFill>
            <a:srgbClr val="5F8A8A"/>
          </a:solidFill>
          <a:ln/>
        </p:spPr>
      </p:sp>
      <p:sp>
        <p:nvSpPr>
          <p:cNvPr id="3" name="Shape 1"/>
          <p:cNvSpPr/>
          <p:nvPr/>
        </p:nvSpPr>
        <p:spPr>
          <a:xfrm>
            <a:off x="11990527" y="0"/>
            <a:ext cx="201168" cy="6858000"/>
          </a:xfrm>
          <a:prstGeom prst="rect">
            <a:avLst/>
          </a:prstGeom>
          <a:solidFill>
            <a:srgbClr val="5F8A8A"/>
          </a:solidFill>
          <a:ln/>
        </p:spPr>
      </p:sp>
      <p:sp>
        <p:nvSpPr>
          <p:cNvPr id="4" name="Shape 2"/>
          <p:cNvSpPr/>
          <p:nvPr/>
        </p:nvSpPr>
        <p:spPr>
          <a:xfrm>
            <a:off x="3355848" y="256032"/>
            <a:ext cx="5486400" cy="868680"/>
          </a:xfrm>
          <a:prstGeom prst="roundRect">
            <a:avLst>
              <a:gd name="adj" fmla="val 12632"/>
            </a:avLst>
          </a:prstGeom>
          <a:solidFill>
            <a:srgbClr val="FFFFFF"/>
          </a:solidFill>
          <a:ln w="22225">
            <a:solidFill>
              <a:srgbClr val="2A2A28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3355848" y="256032"/>
            <a:ext cx="548640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500" b="1" dirty="0">
                <a:solidFill>
                  <a:srgbClr val="2A2A28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「Match」とは？</a:t>
            </a:r>
            <a:endParaRPr lang="en-US" sz="2500" dirty="0"/>
          </a:p>
        </p:txBody>
      </p:sp>
      <p:sp>
        <p:nvSpPr>
          <p:cNvPr id="6" name="Text 4"/>
          <p:cNvSpPr/>
          <p:nvPr/>
        </p:nvSpPr>
        <p:spPr>
          <a:xfrm>
            <a:off x="11551615" y="6400800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3D6B6B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2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822960" y="1554480"/>
            <a:ext cx="10545775" cy="4023360"/>
          </a:xfrm>
          <a:prstGeom prst="roundRect">
            <a:avLst>
              <a:gd name="adj" fmla="val 2727"/>
            </a:avLst>
          </a:prstGeom>
          <a:solidFill>
            <a:srgbClr val="EAF3F2"/>
          </a:solidFill>
          <a:ln w="15875">
            <a:solidFill>
              <a:srgbClr val="5F8A8A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1280160" y="1920240"/>
            <a:ext cx="9631375" cy="3291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2000" dirty="0">
                <a:solidFill>
                  <a:srgbClr val="2A2A28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「Match」とは、AIとマッチングアプリ風UIを組み合わせた、
</a:t>
            </a:r>
            <a:endParaRPr lang="en-US" sz="20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2000" dirty="0">
                <a:solidFill>
                  <a:srgbClr val="2A2A28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愛媛県の観光地発見＆お遍路サポートアプリ。
</a:t>
            </a:r>
            <a:endParaRPr lang="en-US" sz="20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2000" dirty="0">
                <a:solidFill>
                  <a:srgbClr val="2A2A28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スワイプで観光スポットをお気に入り登録し、会話型AIが旅のプランを自動作成。
</a:t>
            </a:r>
            <a:endParaRPr lang="en-US" sz="20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2000" dirty="0">
                <a:solidFill>
                  <a:srgbClr val="2A2A28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重ねるマップやお遍路マッチで、旅をもっと楽しく、スマートに。</a:t>
            </a:r>
            <a:endParaRPr lang="en-US" sz="2000" dirty="0"/>
          </a:p>
        </p:txBody>
      </p:sp>
      <p:sp>
        <p:nvSpPr>
          <p:cNvPr id="9" name="Shape 7"/>
          <p:cNvSpPr/>
          <p:nvPr/>
        </p:nvSpPr>
        <p:spPr>
          <a:xfrm>
            <a:off x="640080" y="5989320"/>
            <a:ext cx="10911535" cy="566928"/>
          </a:xfrm>
          <a:prstGeom prst="roundRect">
            <a:avLst>
              <a:gd name="adj" fmla="val 12903"/>
            </a:avLst>
          </a:prstGeom>
          <a:solidFill>
            <a:srgbClr val="FBF3C4"/>
          </a:solidFill>
          <a:ln w="12700">
            <a:solidFill>
              <a:srgbClr val="FCE38A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822960" y="5989320"/>
            <a:ext cx="10545775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50" i="1" dirty="0">
                <a:solidFill>
                  <a:srgbClr val="3D6B6B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難しい検索は不要。“めくって選ぶ”だけで旅がはじまる。</a:t>
            </a:r>
            <a:endParaRPr lang="en-US" sz="12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01168" cy="6858000"/>
          </a:xfrm>
          <a:prstGeom prst="rect">
            <a:avLst/>
          </a:prstGeom>
          <a:solidFill>
            <a:srgbClr val="5F8A8A"/>
          </a:solidFill>
          <a:ln/>
        </p:spPr>
      </p:sp>
      <p:sp>
        <p:nvSpPr>
          <p:cNvPr id="3" name="Shape 1"/>
          <p:cNvSpPr/>
          <p:nvPr/>
        </p:nvSpPr>
        <p:spPr>
          <a:xfrm>
            <a:off x="11990527" y="0"/>
            <a:ext cx="201168" cy="6858000"/>
          </a:xfrm>
          <a:prstGeom prst="rect">
            <a:avLst/>
          </a:prstGeom>
          <a:solidFill>
            <a:srgbClr val="5F8A8A"/>
          </a:solidFill>
          <a:ln/>
        </p:spPr>
      </p:sp>
      <p:sp>
        <p:nvSpPr>
          <p:cNvPr id="4" name="Shape 2"/>
          <p:cNvSpPr/>
          <p:nvPr/>
        </p:nvSpPr>
        <p:spPr>
          <a:xfrm>
            <a:off x="3355848" y="256032"/>
            <a:ext cx="5486400" cy="868680"/>
          </a:xfrm>
          <a:prstGeom prst="roundRect">
            <a:avLst>
              <a:gd name="adj" fmla="val 12632"/>
            </a:avLst>
          </a:prstGeom>
          <a:solidFill>
            <a:srgbClr val="FFFFFF"/>
          </a:solidFill>
          <a:ln w="22225">
            <a:solidFill>
              <a:srgbClr val="2A2A28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3355848" y="256032"/>
            <a:ext cx="548640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500" b="1" dirty="0">
                <a:solidFill>
                  <a:srgbClr val="2A2A28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「Match」でできること</a:t>
            </a:r>
            <a:endParaRPr lang="en-US" sz="2500" dirty="0"/>
          </a:p>
        </p:txBody>
      </p:sp>
      <p:sp>
        <p:nvSpPr>
          <p:cNvPr id="6" name="Text 4"/>
          <p:cNvSpPr/>
          <p:nvPr/>
        </p:nvSpPr>
        <p:spPr>
          <a:xfrm>
            <a:off x="731520" y="1280160"/>
            <a:ext cx="10728655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3D6B6B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AIとマッチングアプリ風UIで、愛媛の旅をもっと楽しく・スマートに！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11551615" y="6400800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3D6B6B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3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1005840" y="2103120"/>
            <a:ext cx="4846320" cy="822960"/>
          </a:xfrm>
          <a:prstGeom prst="roundRect">
            <a:avLst>
              <a:gd name="adj" fmla="val 13333"/>
            </a:avLst>
          </a:prstGeom>
          <a:solidFill>
            <a:srgbClr val="FFFFFF"/>
          </a:solidFill>
          <a:ln w="15875">
            <a:solidFill>
              <a:srgbClr val="2A2A28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1207008" y="2304288"/>
            <a:ext cx="420624" cy="420624"/>
          </a:xfrm>
          <a:prstGeom prst="ellipse">
            <a:avLst/>
          </a:prstGeom>
          <a:solidFill>
            <a:srgbClr val="2A2A28"/>
          </a:solidFill>
          <a:ln/>
        </p:spPr>
      </p:sp>
      <p:sp>
        <p:nvSpPr>
          <p:cNvPr id="10" name="Text 8"/>
          <p:cNvSpPr/>
          <p:nvPr/>
        </p:nvSpPr>
        <p:spPr>
          <a:xfrm>
            <a:off x="1207008" y="2304288"/>
            <a:ext cx="420624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✓</a:t>
            </a:r>
            <a:endParaRPr lang="en-US" sz="1500" dirty="0"/>
          </a:p>
        </p:txBody>
      </p:sp>
      <p:sp>
        <p:nvSpPr>
          <p:cNvPr id="11" name="Text 9"/>
          <p:cNvSpPr/>
          <p:nvPr/>
        </p:nvSpPr>
        <p:spPr>
          <a:xfrm>
            <a:off x="1783080" y="2103120"/>
            <a:ext cx="39319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A2A28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スワイプでお気に入り登録</a:t>
            </a:r>
            <a:endParaRPr lang="en-US" sz="1600" dirty="0"/>
          </a:p>
        </p:txBody>
      </p:sp>
      <p:sp>
        <p:nvSpPr>
          <p:cNvPr id="12" name="Shape 10"/>
          <p:cNvSpPr/>
          <p:nvPr/>
        </p:nvSpPr>
        <p:spPr>
          <a:xfrm>
            <a:off x="6309360" y="2103120"/>
            <a:ext cx="4846320" cy="822960"/>
          </a:xfrm>
          <a:prstGeom prst="roundRect">
            <a:avLst>
              <a:gd name="adj" fmla="val 13333"/>
            </a:avLst>
          </a:prstGeom>
          <a:solidFill>
            <a:srgbClr val="FFFFFF"/>
          </a:solidFill>
          <a:ln w="15875">
            <a:solidFill>
              <a:srgbClr val="2A2A28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6510528" y="2304288"/>
            <a:ext cx="420624" cy="420624"/>
          </a:xfrm>
          <a:prstGeom prst="ellipse">
            <a:avLst/>
          </a:prstGeom>
          <a:solidFill>
            <a:srgbClr val="2A2A28"/>
          </a:solidFill>
          <a:ln/>
        </p:spPr>
      </p:sp>
      <p:sp>
        <p:nvSpPr>
          <p:cNvPr id="14" name="Text 12"/>
          <p:cNvSpPr/>
          <p:nvPr/>
        </p:nvSpPr>
        <p:spPr>
          <a:xfrm>
            <a:off x="6510528" y="2304288"/>
            <a:ext cx="420624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✓</a:t>
            </a:r>
            <a:endParaRPr lang="en-US" sz="1500" dirty="0"/>
          </a:p>
        </p:txBody>
      </p:sp>
      <p:sp>
        <p:nvSpPr>
          <p:cNvPr id="15" name="Text 13"/>
          <p:cNvSpPr/>
          <p:nvPr/>
        </p:nvSpPr>
        <p:spPr>
          <a:xfrm>
            <a:off x="7086600" y="2103120"/>
            <a:ext cx="39319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A2A28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会話型AIで旅プラン自動作成</a:t>
            </a:r>
            <a:endParaRPr lang="en-US" sz="1600" dirty="0"/>
          </a:p>
        </p:txBody>
      </p:sp>
      <p:sp>
        <p:nvSpPr>
          <p:cNvPr id="16" name="Shape 14"/>
          <p:cNvSpPr/>
          <p:nvPr/>
        </p:nvSpPr>
        <p:spPr>
          <a:xfrm>
            <a:off x="1005840" y="3154680"/>
            <a:ext cx="4846320" cy="822960"/>
          </a:xfrm>
          <a:prstGeom prst="roundRect">
            <a:avLst>
              <a:gd name="adj" fmla="val 13333"/>
            </a:avLst>
          </a:prstGeom>
          <a:solidFill>
            <a:srgbClr val="FFFFFF"/>
          </a:solidFill>
          <a:ln w="15875">
            <a:solidFill>
              <a:srgbClr val="2A2A28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1207008" y="3355848"/>
            <a:ext cx="420624" cy="420624"/>
          </a:xfrm>
          <a:prstGeom prst="ellipse">
            <a:avLst/>
          </a:prstGeom>
          <a:solidFill>
            <a:srgbClr val="2A2A28"/>
          </a:solidFill>
          <a:ln/>
        </p:spPr>
      </p:sp>
      <p:sp>
        <p:nvSpPr>
          <p:cNvPr id="18" name="Text 16"/>
          <p:cNvSpPr/>
          <p:nvPr/>
        </p:nvSpPr>
        <p:spPr>
          <a:xfrm>
            <a:off x="1207008" y="3355848"/>
            <a:ext cx="420624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✓</a:t>
            </a:r>
            <a:endParaRPr lang="en-US" sz="1500" dirty="0"/>
          </a:p>
        </p:txBody>
      </p:sp>
      <p:sp>
        <p:nvSpPr>
          <p:cNvPr id="19" name="Text 17"/>
          <p:cNvSpPr/>
          <p:nvPr/>
        </p:nvSpPr>
        <p:spPr>
          <a:xfrm>
            <a:off x="1783080" y="3154680"/>
            <a:ext cx="39319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A2A28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重ねるマップ（情報レイヤー）</a:t>
            </a:r>
            <a:endParaRPr lang="en-US" sz="1600" dirty="0"/>
          </a:p>
        </p:txBody>
      </p:sp>
      <p:sp>
        <p:nvSpPr>
          <p:cNvPr id="20" name="Shape 18"/>
          <p:cNvSpPr/>
          <p:nvPr/>
        </p:nvSpPr>
        <p:spPr>
          <a:xfrm>
            <a:off x="6309360" y="3154680"/>
            <a:ext cx="4846320" cy="822960"/>
          </a:xfrm>
          <a:prstGeom prst="roundRect">
            <a:avLst>
              <a:gd name="adj" fmla="val 13333"/>
            </a:avLst>
          </a:prstGeom>
          <a:solidFill>
            <a:srgbClr val="FFFFFF"/>
          </a:solidFill>
          <a:ln w="15875">
            <a:solidFill>
              <a:srgbClr val="2A2A28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6510528" y="3355848"/>
            <a:ext cx="420624" cy="420624"/>
          </a:xfrm>
          <a:prstGeom prst="ellipse">
            <a:avLst/>
          </a:prstGeom>
          <a:solidFill>
            <a:srgbClr val="2A2A28"/>
          </a:solidFill>
          <a:ln/>
        </p:spPr>
      </p:sp>
      <p:sp>
        <p:nvSpPr>
          <p:cNvPr id="22" name="Text 20"/>
          <p:cNvSpPr/>
          <p:nvPr/>
        </p:nvSpPr>
        <p:spPr>
          <a:xfrm>
            <a:off x="6510528" y="3355848"/>
            <a:ext cx="420624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✓</a:t>
            </a:r>
            <a:endParaRPr lang="en-US" sz="1500" dirty="0"/>
          </a:p>
        </p:txBody>
      </p:sp>
      <p:sp>
        <p:nvSpPr>
          <p:cNvPr id="23" name="Text 21"/>
          <p:cNvSpPr/>
          <p:nvPr/>
        </p:nvSpPr>
        <p:spPr>
          <a:xfrm>
            <a:off x="7086600" y="3154680"/>
            <a:ext cx="39319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A2A28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札所マップ（愛媛26札所）</a:t>
            </a:r>
            <a:endParaRPr lang="en-US" sz="1600" dirty="0"/>
          </a:p>
        </p:txBody>
      </p:sp>
      <p:sp>
        <p:nvSpPr>
          <p:cNvPr id="24" name="Shape 22"/>
          <p:cNvSpPr/>
          <p:nvPr/>
        </p:nvSpPr>
        <p:spPr>
          <a:xfrm>
            <a:off x="1005840" y="4206240"/>
            <a:ext cx="4846320" cy="822960"/>
          </a:xfrm>
          <a:prstGeom prst="roundRect">
            <a:avLst>
              <a:gd name="adj" fmla="val 13333"/>
            </a:avLst>
          </a:prstGeom>
          <a:solidFill>
            <a:srgbClr val="FFFFFF"/>
          </a:solidFill>
          <a:ln w="15875">
            <a:solidFill>
              <a:srgbClr val="2A2A28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1207008" y="4407408"/>
            <a:ext cx="420624" cy="420624"/>
          </a:xfrm>
          <a:prstGeom prst="ellipse">
            <a:avLst/>
          </a:prstGeom>
          <a:solidFill>
            <a:srgbClr val="2A2A28"/>
          </a:solidFill>
          <a:ln/>
        </p:spPr>
      </p:sp>
      <p:sp>
        <p:nvSpPr>
          <p:cNvPr id="26" name="Text 24"/>
          <p:cNvSpPr/>
          <p:nvPr/>
        </p:nvSpPr>
        <p:spPr>
          <a:xfrm>
            <a:off x="1207008" y="4407408"/>
            <a:ext cx="420624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✓</a:t>
            </a:r>
            <a:endParaRPr lang="en-US" sz="1500" dirty="0"/>
          </a:p>
        </p:txBody>
      </p:sp>
      <p:sp>
        <p:nvSpPr>
          <p:cNvPr id="27" name="Text 25"/>
          <p:cNvSpPr/>
          <p:nvPr/>
        </p:nvSpPr>
        <p:spPr>
          <a:xfrm>
            <a:off x="1783080" y="4206240"/>
            <a:ext cx="39319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A2A28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お遍路マッチ（行った/行ってない）</a:t>
            </a:r>
            <a:endParaRPr lang="en-US" sz="1600" dirty="0"/>
          </a:p>
        </p:txBody>
      </p:sp>
      <p:sp>
        <p:nvSpPr>
          <p:cNvPr id="28" name="Shape 26"/>
          <p:cNvSpPr/>
          <p:nvPr/>
        </p:nvSpPr>
        <p:spPr>
          <a:xfrm>
            <a:off x="6309360" y="4206240"/>
            <a:ext cx="4846320" cy="822960"/>
          </a:xfrm>
          <a:prstGeom prst="roundRect">
            <a:avLst>
              <a:gd name="adj" fmla="val 13333"/>
            </a:avLst>
          </a:prstGeom>
          <a:solidFill>
            <a:srgbClr val="FFFFFF"/>
          </a:solidFill>
          <a:ln w="15875">
            <a:solidFill>
              <a:srgbClr val="2A2A28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6510528" y="4407408"/>
            <a:ext cx="420624" cy="420624"/>
          </a:xfrm>
          <a:prstGeom prst="ellipse">
            <a:avLst/>
          </a:prstGeom>
          <a:solidFill>
            <a:srgbClr val="2A2A28"/>
          </a:solidFill>
          <a:ln/>
        </p:spPr>
      </p:sp>
      <p:sp>
        <p:nvSpPr>
          <p:cNvPr id="30" name="Text 28"/>
          <p:cNvSpPr/>
          <p:nvPr/>
        </p:nvSpPr>
        <p:spPr>
          <a:xfrm>
            <a:off x="6510528" y="4407408"/>
            <a:ext cx="420624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✓</a:t>
            </a:r>
            <a:endParaRPr lang="en-US" sz="1500" dirty="0"/>
          </a:p>
        </p:txBody>
      </p:sp>
      <p:sp>
        <p:nvSpPr>
          <p:cNvPr id="31" name="Text 29"/>
          <p:cNvSpPr/>
          <p:nvPr/>
        </p:nvSpPr>
        <p:spPr>
          <a:xfrm>
            <a:off x="7086600" y="4206240"/>
            <a:ext cx="39319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A2A28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多言語対応（伊予弁ふくむ）</a:t>
            </a:r>
            <a:endParaRPr lang="en-US" sz="1600" dirty="0"/>
          </a:p>
        </p:txBody>
      </p:sp>
      <p:sp>
        <p:nvSpPr>
          <p:cNvPr id="32" name="Shape 30"/>
          <p:cNvSpPr/>
          <p:nvPr/>
        </p:nvSpPr>
        <p:spPr>
          <a:xfrm>
            <a:off x="640080" y="5989320"/>
            <a:ext cx="10911535" cy="566928"/>
          </a:xfrm>
          <a:prstGeom prst="roundRect">
            <a:avLst>
              <a:gd name="adj" fmla="val 12903"/>
            </a:avLst>
          </a:prstGeom>
          <a:solidFill>
            <a:srgbClr val="FBF3C4"/>
          </a:solidFill>
          <a:ln w="12700">
            <a:solidFill>
              <a:srgbClr val="FCE38A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822960" y="5989320"/>
            <a:ext cx="10545775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50" i="1" dirty="0">
                <a:solidFill>
                  <a:srgbClr val="3D6B6B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スワイプ感覚で観光地を発見し、AIが旅のプランを自動でつくる。</a:t>
            </a:r>
            <a:endParaRPr lang="en-US" sz="12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01168" cy="6858000"/>
          </a:xfrm>
          <a:prstGeom prst="rect">
            <a:avLst/>
          </a:prstGeom>
          <a:solidFill>
            <a:srgbClr val="5F8A8A"/>
          </a:solidFill>
          <a:ln/>
        </p:spPr>
      </p:sp>
      <p:sp>
        <p:nvSpPr>
          <p:cNvPr id="3" name="Shape 1"/>
          <p:cNvSpPr/>
          <p:nvPr/>
        </p:nvSpPr>
        <p:spPr>
          <a:xfrm>
            <a:off x="11990527" y="0"/>
            <a:ext cx="201168" cy="6858000"/>
          </a:xfrm>
          <a:prstGeom prst="rect">
            <a:avLst/>
          </a:prstGeom>
          <a:solidFill>
            <a:srgbClr val="5F8A8A"/>
          </a:solidFill>
          <a:ln/>
        </p:spPr>
      </p:sp>
      <p:sp>
        <p:nvSpPr>
          <p:cNvPr id="4" name="Shape 2"/>
          <p:cNvSpPr/>
          <p:nvPr/>
        </p:nvSpPr>
        <p:spPr>
          <a:xfrm>
            <a:off x="3355848" y="256032"/>
            <a:ext cx="5486400" cy="868680"/>
          </a:xfrm>
          <a:prstGeom prst="roundRect">
            <a:avLst>
              <a:gd name="adj" fmla="val 12632"/>
            </a:avLst>
          </a:prstGeom>
          <a:solidFill>
            <a:srgbClr val="FFFFFF"/>
          </a:solidFill>
          <a:ln w="22225">
            <a:solidFill>
              <a:srgbClr val="2A2A28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3355848" y="256032"/>
            <a:ext cx="548640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500" b="1" dirty="0">
                <a:solidFill>
                  <a:srgbClr val="2A2A28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使い方はとってもカンタン！</a:t>
            </a:r>
            <a:endParaRPr lang="en-US" sz="2500" dirty="0"/>
          </a:p>
        </p:txBody>
      </p:sp>
      <p:sp>
        <p:nvSpPr>
          <p:cNvPr id="6" name="Text 4"/>
          <p:cNvSpPr/>
          <p:nvPr/>
        </p:nvSpPr>
        <p:spPr>
          <a:xfrm>
            <a:off x="731520" y="1280160"/>
            <a:ext cx="10728655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3D6B6B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スワイプするだけで、あなただけの愛媛旅行プランが完成！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11551615" y="6400800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3D6B6B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4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2103120" y="1920240"/>
            <a:ext cx="1005840" cy="1005840"/>
          </a:xfrm>
          <a:prstGeom prst="ellipse">
            <a:avLst/>
          </a:prstGeom>
          <a:solidFill>
            <a:srgbClr val="FCE38A"/>
          </a:solidFill>
          <a:ln/>
        </p:spPr>
      </p:sp>
      <p:sp>
        <p:nvSpPr>
          <p:cNvPr id="9" name="Text 7"/>
          <p:cNvSpPr/>
          <p:nvPr/>
        </p:nvSpPr>
        <p:spPr>
          <a:xfrm>
            <a:off x="2103120" y="1920240"/>
            <a:ext cx="100584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3D6B6B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1</a:t>
            </a:r>
            <a:endParaRPr lang="en-US" sz="3000" dirty="0"/>
          </a:p>
        </p:txBody>
      </p:sp>
      <p:sp>
        <p:nvSpPr>
          <p:cNvPr id="10" name="Text 8"/>
          <p:cNvSpPr/>
          <p:nvPr/>
        </p:nvSpPr>
        <p:spPr>
          <a:xfrm>
            <a:off x="2103120" y="1600200"/>
            <a:ext cx="10058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3D6B6B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STEP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822960" y="3108960"/>
            <a:ext cx="35661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2A2A28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スワイプで好みを登録 🍊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1005840" y="3749040"/>
            <a:ext cx="3200400" cy="1645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50" dirty="0">
                <a:solidFill>
                  <a:srgbClr val="2A2A28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気になるスポットや食べ物をスワイプ。みかん狩り・お遍路・絶景など好みをAIが学習。</a:t>
            </a:r>
            <a:endParaRPr lang="en-US" sz="1250" dirty="0"/>
          </a:p>
        </p:txBody>
      </p:sp>
      <p:sp>
        <p:nvSpPr>
          <p:cNvPr id="13" name="Shape 11"/>
          <p:cNvSpPr/>
          <p:nvPr/>
        </p:nvSpPr>
        <p:spPr>
          <a:xfrm>
            <a:off x="5806440" y="1920240"/>
            <a:ext cx="1005840" cy="1005840"/>
          </a:xfrm>
          <a:prstGeom prst="ellipse">
            <a:avLst/>
          </a:prstGeom>
          <a:solidFill>
            <a:srgbClr val="FCE38A"/>
          </a:solidFill>
          <a:ln/>
        </p:spPr>
      </p:sp>
      <p:sp>
        <p:nvSpPr>
          <p:cNvPr id="14" name="Text 12"/>
          <p:cNvSpPr/>
          <p:nvPr/>
        </p:nvSpPr>
        <p:spPr>
          <a:xfrm>
            <a:off x="5806440" y="1920240"/>
            <a:ext cx="100584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3D6B6B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2</a:t>
            </a:r>
            <a:endParaRPr lang="en-US" sz="3000" dirty="0"/>
          </a:p>
        </p:txBody>
      </p:sp>
      <p:sp>
        <p:nvSpPr>
          <p:cNvPr id="15" name="Text 13"/>
          <p:cNvSpPr/>
          <p:nvPr/>
        </p:nvSpPr>
        <p:spPr>
          <a:xfrm>
            <a:off x="5806440" y="1600200"/>
            <a:ext cx="10058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3D6B6B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STEP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4526280" y="3108960"/>
            <a:ext cx="35661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2A2A28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AIが旅プランを自動作成 ✨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4709160" y="3749040"/>
            <a:ext cx="3200400" cy="1645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50" dirty="0">
                <a:solidFill>
                  <a:srgbClr val="2A2A28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Amazon BedrockのAIが、あなたの好みに合う観光ルートやお遍路プランを提案。</a:t>
            </a:r>
            <a:endParaRPr lang="en-US" sz="1250" dirty="0"/>
          </a:p>
        </p:txBody>
      </p:sp>
      <p:sp>
        <p:nvSpPr>
          <p:cNvPr id="18" name="Shape 16"/>
          <p:cNvSpPr/>
          <p:nvPr/>
        </p:nvSpPr>
        <p:spPr>
          <a:xfrm>
            <a:off x="9509760" y="1920240"/>
            <a:ext cx="1005840" cy="1005840"/>
          </a:xfrm>
          <a:prstGeom prst="ellipse">
            <a:avLst/>
          </a:prstGeom>
          <a:solidFill>
            <a:srgbClr val="FCE38A"/>
          </a:solidFill>
          <a:ln/>
        </p:spPr>
      </p:sp>
      <p:sp>
        <p:nvSpPr>
          <p:cNvPr id="19" name="Text 17"/>
          <p:cNvSpPr/>
          <p:nvPr/>
        </p:nvSpPr>
        <p:spPr>
          <a:xfrm>
            <a:off x="9509760" y="1920240"/>
            <a:ext cx="100584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3D6B6B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3</a:t>
            </a:r>
            <a:endParaRPr lang="en-US" sz="3000" dirty="0"/>
          </a:p>
        </p:txBody>
      </p:sp>
      <p:sp>
        <p:nvSpPr>
          <p:cNvPr id="20" name="Text 18"/>
          <p:cNvSpPr/>
          <p:nvPr/>
        </p:nvSpPr>
        <p:spPr>
          <a:xfrm>
            <a:off x="9509760" y="1600200"/>
            <a:ext cx="10058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3D6B6B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STEP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8229600" y="3108960"/>
            <a:ext cx="35661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2A2A28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愛媛の旅を思いきり楽しむ 🌊</a:t>
            </a:r>
            <a:endParaRPr lang="en-US" sz="1600" dirty="0"/>
          </a:p>
        </p:txBody>
      </p:sp>
      <p:sp>
        <p:nvSpPr>
          <p:cNvPr id="22" name="Text 20"/>
          <p:cNvSpPr/>
          <p:nvPr/>
        </p:nvSpPr>
        <p:spPr>
          <a:xfrm>
            <a:off x="8412480" y="3749040"/>
            <a:ext cx="3200400" cy="1645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50" dirty="0">
                <a:solidFill>
                  <a:srgbClr val="2A2A28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お遍路マップや進捗管理で旅をサポート。多言語対応で外国の友達とも一緒に。</a:t>
            </a:r>
            <a:endParaRPr lang="en-US" sz="1250" dirty="0"/>
          </a:p>
        </p:txBody>
      </p:sp>
      <p:sp>
        <p:nvSpPr>
          <p:cNvPr id="23" name="Shape 21"/>
          <p:cNvSpPr/>
          <p:nvPr/>
        </p:nvSpPr>
        <p:spPr>
          <a:xfrm>
            <a:off x="640080" y="5989320"/>
            <a:ext cx="10911535" cy="566928"/>
          </a:xfrm>
          <a:prstGeom prst="roundRect">
            <a:avLst>
              <a:gd name="adj" fmla="val 12903"/>
            </a:avLst>
          </a:prstGeom>
          <a:solidFill>
            <a:srgbClr val="FBF3C4"/>
          </a:solidFill>
          <a:ln w="12700">
            <a:solidFill>
              <a:srgbClr val="FCE38A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822960" y="5989320"/>
            <a:ext cx="10545775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50" i="1" dirty="0">
                <a:solidFill>
                  <a:srgbClr val="3D6B6B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直感的な操作で、AIが最適な観光スポットやお遍路ルートを自動でマッチング。</a:t>
            </a:r>
            <a:endParaRPr lang="en-US" sz="12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01168" cy="6858000"/>
          </a:xfrm>
          <a:prstGeom prst="rect">
            <a:avLst/>
          </a:prstGeom>
          <a:solidFill>
            <a:srgbClr val="5F8A8A"/>
          </a:solidFill>
          <a:ln/>
        </p:spPr>
      </p:sp>
      <p:sp>
        <p:nvSpPr>
          <p:cNvPr id="3" name="Shape 1"/>
          <p:cNvSpPr/>
          <p:nvPr/>
        </p:nvSpPr>
        <p:spPr>
          <a:xfrm>
            <a:off x="11990527" y="0"/>
            <a:ext cx="201168" cy="6858000"/>
          </a:xfrm>
          <a:prstGeom prst="rect">
            <a:avLst/>
          </a:prstGeom>
          <a:solidFill>
            <a:srgbClr val="5F8A8A"/>
          </a:solidFill>
          <a:ln/>
        </p:spPr>
      </p:sp>
      <p:sp>
        <p:nvSpPr>
          <p:cNvPr id="4" name="Shape 2"/>
          <p:cNvSpPr/>
          <p:nvPr/>
        </p:nvSpPr>
        <p:spPr>
          <a:xfrm>
            <a:off x="3355848" y="256032"/>
            <a:ext cx="5486400" cy="868680"/>
          </a:xfrm>
          <a:prstGeom prst="roundRect">
            <a:avLst>
              <a:gd name="adj" fmla="val 12632"/>
            </a:avLst>
          </a:prstGeom>
          <a:solidFill>
            <a:srgbClr val="FFFFFF"/>
          </a:solidFill>
          <a:ln w="22225">
            <a:solidFill>
              <a:srgbClr val="2A2A28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3355848" y="256032"/>
            <a:ext cx="548640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500" b="1" dirty="0">
                <a:solidFill>
                  <a:srgbClr val="2A2A28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ユーザー体験フロー</a:t>
            </a:r>
            <a:endParaRPr lang="en-US" sz="2500" dirty="0"/>
          </a:p>
        </p:txBody>
      </p:sp>
      <p:sp>
        <p:nvSpPr>
          <p:cNvPr id="6" name="Text 4"/>
          <p:cNvSpPr/>
          <p:nvPr/>
        </p:nvSpPr>
        <p:spPr>
          <a:xfrm>
            <a:off x="11551615" y="6400800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3D6B6B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5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640080" y="1645920"/>
            <a:ext cx="26044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3D6B6B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STEP 1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640080" y="2011680"/>
            <a:ext cx="2604440" cy="1280160"/>
          </a:xfrm>
          <a:prstGeom prst="chevron">
            <a:avLst/>
          </a:prstGeom>
          <a:solidFill>
            <a:srgbClr val="BFC9C7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822960" y="2011680"/>
            <a:ext cx="242156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アプリ起動</a:t>
            </a:r>
            <a:endParaRPr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777240" y="3429000"/>
            <a:ext cx="2467280" cy="1645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2A2A28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・会員登録・ログイン</a:t>
            </a:r>
            <a:endParaRPr lang="en-US" sz="12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2A2A28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・言語設定</a:t>
            </a:r>
            <a:endParaRPr lang="en-US" sz="12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2A2A28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・興味タグ選択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3409112" y="1645920"/>
            <a:ext cx="26044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3D6B6B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STEP 2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3409112" y="2011680"/>
            <a:ext cx="2604440" cy="1280160"/>
          </a:xfrm>
          <a:prstGeom prst="chevron">
            <a:avLst/>
          </a:prstGeom>
          <a:solidFill>
            <a:srgbClr val="BFC9C7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3591992" y="2011680"/>
            <a:ext cx="242156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スワイプで観光地選択</a:t>
            </a:r>
            <a:endParaRPr lang="en-US" sz="1500" dirty="0"/>
          </a:p>
        </p:txBody>
      </p:sp>
      <p:sp>
        <p:nvSpPr>
          <p:cNvPr id="14" name="Text 12"/>
          <p:cNvSpPr/>
          <p:nvPr/>
        </p:nvSpPr>
        <p:spPr>
          <a:xfrm>
            <a:off x="3546272" y="3429000"/>
            <a:ext cx="2467280" cy="1645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2A2A28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・観光地をスワイプ</a:t>
            </a:r>
            <a:endParaRPr lang="en-US" sz="12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2A2A28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・お気に入り登録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6178144" y="1645920"/>
            <a:ext cx="26044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3D6B6B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STEP 3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6178144" y="2011680"/>
            <a:ext cx="2604440" cy="1280160"/>
          </a:xfrm>
          <a:prstGeom prst="chevron">
            <a:avLst/>
          </a:prstGeom>
          <a:solidFill>
            <a:srgbClr val="BFC9C7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6361024" y="2011680"/>
            <a:ext cx="242156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AIプラン作成</a:t>
            </a:r>
            <a:endParaRPr lang="en-US" sz="1500" dirty="0"/>
          </a:p>
        </p:txBody>
      </p:sp>
      <p:sp>
        <p:nvSpPr>
          <p:cNvPr id="18" name="Text 16"/>
          <p:cNvSpPr/>
          <p:nvPr/>
        </p:nvSpPr>
        <p:spPr>
          <a:xfrm>
            <a:off x="6315304" y="3429000"/>
            <a:ext cx="2467280" cy="1645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2A2A28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・AIと会話</a:t>
            </a:r>
            <a:endParaRPr lang="en-US" sz="12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2A2A28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・旅程自動作成</a:t>
            </a:r>
            <a:endParaRPr lang="en-US" sz="12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2A2A28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・ルート最適化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8947175" y="1645920"/>
            <a:ext cx="26044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3D6B6B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STEP 4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8947175" y="2011680"/>
            <a:ext cx="2604440" cy="1280160"/>
          </a:xfrm>
          <a:prstGeom prst="chevron">
            <a:avLst/>
          </a:prstGeom>
          <a:solidFill>
            <a:srgbClr val="E8963A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9130055" y="2011680"/>
            <a:ext cx="242156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お遍路スタート</a:t>
            </a:r>
            <a:endParaRPr lang="en-US" sz="1500" dirty="0"/>
          </a:p>
        </p:txBody>
      </p:sp>
      <p:sp>
        <p:nvSpPr>
          <p:cNvPr id="22" name="Text 20"/>
          <p:cNvSpPr/>
          <p:nvPr/>
        </p:nvSpPr>
        <p:spPr>
          <a:xfrm>
            <a:off x="9084335" y="3429000"/>
            <a:ext cx="2467280" cy="1645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2A2A28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・札所マップ</a:t>
            </a:r>
            <a:endParaRPr lang="en-US" sz="12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2A2A28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・行った/行ってない</a:t>
            </a:r>
            <a:endParaRPr lang="en-US" sz="12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2A2A28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・進捗管理</a:t>
            </a:r>
            <a:endParaRPr lang="en-US" sz="1200" dirty="0"/>
          </a:p>
        </p:txBody>
      </p:sp>
      <p:sp>
        <p:nvSpPr>
          <p:cNvPr id="23" name="Shape 21"/>
          <p:cNvSpPr/>
          <p:nvPr/>
        </p:nvSpPr>
        <p:spPr>
          <a:xfrm>
            <a:off x="640080" y="5989320"/>
            <a:ext cx="10911535" cy="566928"/>
          </a:xfrm>
          <a:prstGeom prst="roundRect">
            <a:avLst>
              <a:gd name="adj" fmla="val 12903"/>
            </a:avLst>
          </a:prstGeom>
          <a:solidFill>
            <a:srgbClr val="FBF3C4"/>
          </a:solidFill>
          <a:ln w="12700">
            <a:solidFill>
              <a:srgbClr val="FCE38A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822960" y="5989320"/>
            <a:ext cx="10545775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50" i="1" dirty="0">
                <a:solidFill>
                  <a:srgbClr val="3D6B6B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登録 → スワイプ → AIプラン → お遍路。迷わず一気通貫。</a:t>
            </a:r>
            <a:endParaRPr lang="en-US" sz="12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01168" cy="6858000"/>
          </a:xfrm>
          <a:prstGeom prst="rect">
            <a:avLst/>
          </a:prstGeom>
          <a:solidFill>
            <a:srgbClr val="5F8A8A"/>
          </a:solidFill>
          <a:ln/>
        </p:spPr>
      </p:sp>
      <p:sp>
        <p:nvSpPr>
          <p:cNvPr id="3" name="Shape 1"/>
          <p:cNvSpPr/>
          <p:nvPr/>
        </p:nvSpPr>
        <p:spPr>
          <a:xfrm>
            <a:off x="11990527" y="0"/>
            <a:ext cx="201168" cy="6858000"/>
          </a:xfrm>
          <a:prstGeom prst="rect">
            <a:avLst/>
          </a:prstGeom>
          <a:solidFill>
            <a:srgbClr val="5F8A8A"/>
          </a:solidFill>
          <a:ln/>
        </p:spPr>
      </p:sp>
      <p:sp>
        <p:nvSpPr>
          <p:cNvPr id="4" name="Shape 2"/>
          <p:cNvSpPr/>
          <p:nvPr/>
        </p:nvSpPr>
        <p:spPr>
          <a:xfrm>
            <a:off x="3355848" y="256032"/>
            <a:ext cx="5486400" cy="868680"/>
          </a:xfrm>
          <a:prstGeom prst="roundRect">
            <a:avLst>
              <a:gd name="adj" fmla="val 12632"/>
            </a:avLst>
          </a:prstGeom>
          <a:solidFill>
            <a:srgbClr val="FFFFFF"/>
          </a:solidFill>
          <a:ln w="22225">
            <a:solidFill>
              <a:srgbClr val="2A2A28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3355848" y="256032"/>
            <a:ext cx="548640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500" b="1" dirty="0">
                <a:solidFill>
                  <a:srgbClr val="2A2A28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システム全体像</a:t>
            </a:r>
            <a:endParaRPr lang="en-US" sz="2500" dirty="0"/>
          </a:p>
        </p:txBody>
      </p:sp>
      <p:sp>
        <p:nvSpPr>
          <p:cNvPr id="6" name="Text 4"/>
          <p:cNvSpPr/>
          <p:nvPr/>
        </p:nvSpPr>
        <p:spPr>
          <a:xfrm>
            <a:off x="731520" y="1280160"/>
            <a:ext cx="10728655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3D6B6B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スワイプ・会話・地図の3操作を、共通ゲートウェイがAWSの各サービスへつなぐ。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11551615" y="6400800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3D6B6B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6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640080" y="2148840"/>
            <a:ext cx="3017520" cy="1554480"/>
          </a:xfrm>
          <a:prstGeom prst="roundRect">
            <a:avLst>
              <a:gd name="adj" fmla="val 5882"/>
            </a:avLst>
          </a:prstGeom>
          <a:solidFill>
            <a:srgbClr val="EAF3F2"/>
          </a:solidFill>
          <a:ln w="19050">
            <a:solidFill>
              <a:srgbClr val="5F8A8A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640080" y="2148840"/>
            <a:ext cx="3017520" cy="1554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3D6B6B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ユーザー操作
</a:t>
            </a:r>
            <a:pPr algn="ctr" indent="0" marL="0">
              <a:buNone/>
            </a:pPr>
            <a:r>
              <a:rPr lang="en-US" sz="1300" dirty="0">
                <a:solidFill>
                  <a:srgbClr val="2A2A28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スワイプ / 会話 / 地図</a:t>
            </a:r>
            <a:endParaRPr lang="en-US" sz="1600" dirty="0"/>
          </a:p>
        </p:txBody>
      </p:sp>
      <p:sp>
        <p:nvSpPr>
          <p:cNvPr id="10" name="Shape 8"/>
          <p:cNvSpPr/>
          <p:nvPr/>
        </p:nvSpPr>
        <p:spPr>
          <a:xfrm>
            <a:off x="3703320" y="2697480"/>
            <a:ext cx="548640" cy="457200"/>
          </a:xfrm>
          <a:prstGeom prst="rightArrow">
            <a:avLst/>
          </a:prstGeom>
          <a:solidFill>
            <a:srgbClr val="E8963A"/>
          </a:solidFill>
          <a:ln/>
        </p:spPr>
      </p:sp>
      <p:sp>
        <p:nvSpPr>
          <p:cNvPr id="11" name="Shape 9"/>
          <p:cNvSpPr/>
          <p:nvPr/>
        </p:nvSpPr>
        <p:spPr>
          <a:xfrm>
            <a:off x="4297680" y="2148840"/>
            <a:ext cx="3017520" cy="1554480"/>
          </a:xfrm>
          <a:prstGeom prst="roundRect">
            <a:avLst>
              <a:gd name="adj" fmla="val 5882"/>
            </a:avLst>
          </a:prstGeom>
          <a:solidFill>
            <a:srgbClr val="FBF3C4"/>
          </a:solidFill>
          <a:ln w="19050">
            <a:solidFill>
              <a:srgbClr val="E8963A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297680" y="2148840"/>
            <a:ext cx="3017520" cy="1554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2A2A28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共通ゲートウェイ
</a:t>
            </a:r>
            <a:pPr algn="ctr" indent="0" marL="0">
              <a:buNone/>
            </a:pPr>
            <a:r>
              <a:rPr lang="en-US" sz="1300" dirty="0">
                <a:solidFill>
                  <a:srgbClr val="2A2A28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機能の窓口・ポート抽象</a:t>
            </a:r>
            <a:endParaRPr lang="en-US" sz="1600" dirty="0"/>
          </a:p>
        </p:txBody>
      </p:sp>
      <p:sp>
        <p:nvSpPr>
          <p:cNvPr id="13" name="Shape 11"/>
          <p:cNvSpPr/>
          <p:nvPr/>
        </p:nvSpPr>
        <p:spPr>
          <a:xfrm>
            <a:off x="7360920" y="2697480"/>
            <a:ext cx="548640" cy="457200"/>
          </a:xfrm>
          <a:prstGeom prst="rightArrow">
            <a:avLst/>
          </a:prstGeom>
          <a:solidFill>
            <a:srgbClr val="E8963A"/>
          </a:solidFill>
          <a:ln/>
        </p:spPr>
      </p:sp>
      <p:sp>
        <p:nvSpPr>
          <p:cNvPr id="14" name="Shape 12"/>
          <p:cNvSpPr/>
          <p:nvPr/>
        </p:nvSpPr>
        <p:spPr>
          <a:xfrm>
            <a:off x="7955280" y="1828800"/>
            <a:ext cx="3593592" cy="2194560"/>
          </a:xfrm>
          <a:prstGeom prst="roundRect">
            <a:avLst>
              <a:gd name="adj" fmla="val 4167"/>
            </a:avLst>
          </a:prstGeom>
          <a:solidFill>
            <a:srgbClr val="FFFFFF"/>
          </a:solidFill>
          <a:ln w="19050">
            <a:solidFill>
              <a:srgbClr val="5F8A8A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7955280" y="1892808"/>
            <a:ext cx="3593592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3D6B6B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AWS サービス</a:t>
            </a:r>
            <a:endParaRPr lang="en-US" sz="1400" dirty="0"/>
          </a:p>
        </p:txBody>
      </p:sp>
      <p:sp>
        <p:nvSpPr>
          <p:cNvPr id="16" name="Shape 14"/>
          <p:cNvSpPr/>
          <p:nvPr/>
        </p:nvSpPr>
        <p:spPr>
          <a:xfrm>
            <a:off x="8183880" y="2331720"/>
            <a:ext cx="3136392" cy="384048"/>
          </a:xfrm>
          <a:prstGeom prst="roundRect">
            <a:avLst>
              <a:gd name="adj" fmla="val 47619"/>
            </a:avLst>
          </a:prstGeom>
          <a:solidFill>
            <a:srgbClr val="EAF3F2"/>
          </a:solidFill>
          <a:ln w="9525">
            <a:solidFill>
              <a:srgbClr val="C9D6D4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8183880" y="2331720"/>
            <a:ext cx="3136392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2A2A28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Amazon Bedrock（AI・画像）</a:t>
            </a:r>
            <a:endParaRPr lang="en-US" sz="1150" dirty="0"/>
          </a:p>
        </p:txBody>
      </p:sp>
      <p:sp>
        <p:nvSpPr>
          <p:cNvPr id="18" name="Shape 16"/>
          <p:cNvSpPr/>
          <p:nvPr/>
        </p:nvSpPr>
        <p:spPr>
          <a:xfrm>
            <a:off x="8183880" y="2788920"/>
            <a:ext cx="3136392" cy="384048"/>
          </a:xfrm>
          <a:prstGeom prst="roundRect">
            <a:avLst>
              <a:gd name="adj" fmla="val 47619"/>
            </a:avLst>
          </a:prstGeom>
          <a:solidFill>
            <a:srgbClr val="EAF3F2"/>
          </a:solidFill>
          <a:ln w="9525">
            <a:solidFill>
              <a:srgbClr val="C9D6D4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8183880" y="2788920"/>
            <a:ext cx="3136392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2A2A28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AWS Lambda（処理）</a:t>
            </a:r>
            <a:endParaRPr lang="en-US" sz="1150" dirty="0"/>
          </a:p>
        </p:txBody>
      </p:sp>
      <p:sp>
        <p:nvSpPr>
          <p:cNvPr id="20" name="Shape 18"/>
          <p:cNvSpPr/>
          <p:nvPr/>
        </p:nvSpPr>
        <p:spPr>
          <a:xfrm>
            <a:off x="8183880" y="3246120"/>
            <a:ext cx="3136392" cy="384048"/>
          </a:xfrm>
          <a:prstGeom prst="roundRect">
            <a:avLst>
              <a:gd name="adj" fmla="val 47619"/>
            </a:avLst>
          </a:prstGeom>
          <a:solidFill>
            <a:srgbClr val="EAF3F2"/>
          </a:solidFill>
          <a:ln w="9525">
            <a:solidFill>
              <a:srgbClr val="C9D6D4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8183880" y="3246120"/>
            <a:ext cx="3136392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2A2A28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Amazon DynamoDB（保存）</a:t>
            </a:r>
            <a:endParaRPr lang="en-US" sz="1150" dirty="0"/>
          </a:p>
        </p:txBody>
      </p:sp>
      <p:sp>
        <p:nvSpPr>
          <p:cNvPr id="22" name="Shape 20"/>
          <p:cNvSpPr/>
          <p:nvPr/>
        </p:nvSpPr>
        <p:spPr>
          <a:xfrm>
            <a:off x="8183880" y="3703320"/>
            <a:ext cx="3136392" cy="384048"/>
          </a:xfrm>
          <a:prstGeom prst="roundRect">
            <a:avLst>
              <a:gd name="adj" fmla="val 47619"/>
            </a:avLst>
          </a:prstGeom>
          <a:solidFill>
            <a:srgbClr val="EAF3F2"/>
          </a:solidFill>
          <a:ln w="9525">
            <a:solidFill>
              <a:srgbClr val="C9D6D4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8183880" y="3703320"/>
            <a:ext cx="3136392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2A2A28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Amazon Location Service（地図）</a:t>
            </a:r>
            <a:endParaRPr lang="en-US" sz="1150" dirty="0"/>
          </a:p>
        </p:txBody>
      </p:sp>
      <p:sp>
        <p:nvSpPr>
          <p:cNvPr id="24" name="Shape 22"/>
          <p:cNvSpPr/>
          <p:nvPr/>
        </p:nvSpPr>
        <p:spPr>
          <a:xfrm>
            <a:off x="640080" y="5989320"/>
            <a:ext cx="10911535" cy="566928"/>
          </a:xfrm>
          <a:prstGeom prst="roundRect">
            <a:avLst>
              <a:gd name="adj" fmla="val 12903"/>
            </a:avLst>
          </a:prstGeom>
          <a:solidFill>
            <a:srgbClr val="FBF3C4"/>
          </a:solidFill>
          <a:ln w="12700">
            <a:solidFill>
              <a:srgbClr val="FCE38A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822960" y="5989320"/>
            <a:ext cx="10545775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50" i="1" dirty="0">
                <a:solidFill>
                  <a:srgbClr val="3D6B6B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AWS依存はモックに抽象化 — クラウド未接続でも全機能をデモ可能。</a:t>
            </a:r>
            <a:endParaRPr lang="en-US" sz="12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01168" cy="6858000"/>
          </a:xfrm>
          <a:prstGeom prst="rect">
            <a:avLst/>
          </a:prstGeom>
          <a:solidFill>
            <a:srgbClr val="5F8A8A"/>
          </a:solidFill>
          <a:ln/>
        </p:spPr>
      </p:sp>
      <p:sp>
        <p:nvSpPr>
          <p:cNvPr id="3" name="Shape 1"/>
          <p:cNvSpPr/>
          <p:nvPr/>
        </p:nvSpPr>
        <p:spPr>
          <a:xfrm>
            <a:off x="11990527" y="0"/>
            <a:ext cx="201168" cy="6858000"/>
          </a:xfrm>
          <a:prstGeom prst="rect">
            <a:avLst/>
          </a:prstGeom>
          <a:solidFill>
            <a:srgbClr val="5F8A8A"/>
          </a:solidFill>
          <a:ln/>
        </p:spPr>
      </p:sp>
      <p:sp>
        <p:nvSpPr>
          <p:cNvPr id="4" name="Shape 2"/>
          <p:cNvSpPr/>
          <p:nvPr/>
        </p:nvSpPr>
        <p:spPr>
          <a:xfrm>
            <a:off x="3355848" y="256032"/>
            <a:ext cx="5486400" cy="868680"/>
          </a:xfrm>
          <a:prstGeom prst="roundRect">
            <a:avLst>
              <a:gd name="adj" fmla="val 12632"/>
            </a:avLst>
          </a:prstGeom>
          <a:solidFill>
            <a:srgbClr val="FFFFFF"/>
          </a:solidFill>
          <a:ln w="22225">
            <a:solidFill>
              <a:srgbClr val="2A2A28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3355848" y="256032"/>
            <a:ext cx="548640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500" b="1" dirty="0">
                <a:solidFill>
                  <a:srgbClr val="2A2A28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使用している技術スタック</a:t>
            </a:r>
            <a:endParaRPr lang="en-US" sz="2500" dirty="0"/>
          </a:p>
        </p:txBody>
      </p:sp>
      <p:sp>
        <p:nvSpPr>
          <p:cNvPr id="6" name="Text 4"/>
          <p:cNvSpPr/>
          <p:nvPr/>
        </p:nvSpPr>
        <p:spPr>
          <a:xfrm>
            <a:off x="731520" y="1280160"/>
            <a:ext cx="10728655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3D6B6B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信頼性・拡張性・AI機能を兼ね備えたモダンなアーキテクチャで実現。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11551615" y="6400800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3D6B6B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7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1143000" y="2468880"/>
            <a:ext cx="2103120" cy="2103120"/>
          </a:xfrm>
          <a:prstGeom prst="ellipse">
            <a:avLst/>
          </a:prstGeom>
          <a:solidFill>
            <a:srgbClr val="FCE38A"/>
          </a:solidFill>
          <a:ln w="15875">
            <a:solidFill>
              <a:srgbClr val="2A2A28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143000" y="2651760"/>
            <a:ext cx="2103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2A2A28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✓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1143000" y="3017520"/>
            <a:ext cx="210312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2A2A28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Amazon</a:t>
            </a:r>
            <a:endParaRPr lang="en-US" sz="1500" dirty="0"/>
          </a:p>
          <a:p>
            <a:pPr algn="ctr" indent="0" marL="0">
              <a:buNone/>
            </a:pPr>
            <a:r>
              <a:rPr lang="en-US" sz="1500" b="1" dirty="0">
                <a:solidFill>
                  <a:srgbClr val="2A2A28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Bedrock</a:t>
            </a:r>
            <a:endParaRPr lang="en-US" sz="1500" dirty="0"/>
          </a:p>
        </p:txBody>
      </p:sp>
      <p:sp>
        <p:nvSpPr>
          <p:cNvPr id="11" name="Shape 9"/>
          <p:cNvSpPr/>
          <p:nvPr/>
        </p:nvSpPr>
        <p:spPr>
          <a:xfrm>
            <a:off x="3931920" y="2468880"/>
            <a:ext cx="2103120" cy="2103120"/>
          </a:xfrm>
          <a:prstGeom prst="ellipse">
            <a:avLst/>
          </a:prstGeom>
          <a:solidFill>
            <a:srgbClr val="FCE38A"/>
          </a:solidFill>
          <a:ln w="15875">
            <a:solidFill>
              <a:srgbClr val="2A2A28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3931920" y="2651760"/>
            <a:ext cx="2103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2A2A28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✓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3931920" y="3017520"/>
            <a:ext cx="210312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2A2A28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AWS</a:t>
            </a:r>
            <a:endParaRPr lang="en-US" sz="1500" dirty="0"/>
          </a:p>
          <a:p>
            <a:pPr algn="ctr" indent="0" marL="0">
              <a:buNone/>
            </a:pPr>
            <a:r>
              <a:rPr lang="en-US" sz="1500" b="1" dirty="0">
                <a:solidFill>
                  <a:srgbClr val="2A2A28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Lambda</a:t>
            </a:r>
            <a:endParaRPr lang="en-US" sz="1500" dirty="0"/>
          </a:p>
        </p:txBody>
      </p:sp>
      <p:sp>
        <p:nvSpPr>
          <p:cNvPr id="14" name="Shape 12"/>
          <p:cNvSpPr/>
          <p:nvPr/>
        </p:nvSpPr>
        <p:spPr>
          <a:xfrm>
            <a:off x="6720840" y="2468880"/>
            <a:ext cx="2103120" cy="2103120"/>
          </a:xfrm>
          <a:prstGeom prst="ellipse">
            <a:avLst/>
          </a:prstGeom>
          <a:solidFill>
            <a:srgbClr val="FCE38A"/>
          </a:solidFill>
          <a:ln w="15875">
            <a:solidFill>
              <a:srgbClr val="2A2A28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720840" y="2651760"/>
            <a:ext cx="2103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2A2A28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✓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6720840" y="3017520"/>
            <a:ext cx="210312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2A2A28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Amazon</a:t>
            </a:r>
            <a:endParaRPr lang="en-US" sz="1500" dirty="0"/>
          </a:p>
          <a:p>
            <a:pPr algn="ctr" indent="0" marL="0">
              <a:buNone/>
            </a:pPr>
            <a:r>
              <a:rPr lang="en-US" sz="1500" b="1" dirty="0">
                <a:solidFill>
                  <a:srgbClr val="2A2A28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DynamoDB</a:t>
            </a:r>
            <a:endParaRPr lang="en-US" sz="1500" dirty="0"/>
          </a:p>
        </p:txBody>
      </p:sp>
      <p:sp>
        <p:nvSpPr>
          <p:cNvPr id="17" name="Shape 15"/>
          <p:cNvSpPr/>
          <p:nvPr/>
        </p:nvSpPr>
        <p:spPr>
          <a:xfrm>
            <a:off x="9509760" y="2468880"/>
            <a:ext cx="2103120" cy="2103120"/>
          </a:xfrm>
          <a:prstGeom prst="ellipse">
            <a:avLst/>
          </a:prstGeom>
          <a:solidFill>
            <a:srgbClr val="FCE38A"/>
          </a:solidFill>
          <a:ln w="15875">
            <a:solidFill>
              <a:srgbClr val="2A2A28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9509760" y="2651760"/>
            <a:ext cx="2103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2A2A28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✓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9509760" y="3017520"/>
            <a:ext cx="210312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2A2A28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Amazon</a:t>
            </a:r>
            <a:endParaRPr lang="en-US" sz="1500" dirty="0"/>
          </a:p>
          <a:p>
            <a:pPr algn="ctr" indent="0" marL="0">
              <a:buNone/>
            </a:pPr>
            <a:r>
              <a:rPr lang="en-US" sz="1500" b="1" dirty="0">
                <a:solidFill>
                  <a:srgbClr val="2A2A28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Location Service</a:t>
            </a:r>
            <a:endParaRPr lang="en-US" sz="1500" dirty="0"/>
          </a:p>
        </p:txBody>
      </p:sp>
      <p:sp>
        <p:nvSpPr>
          <p:cNvPr id="20" name="Shape 18"/>
          <p:cNvSpPr/>
          <p:nvPr/>
        </p:nvSpPr>
        <p:spPr>
          <a:xfrm>
            <a:off x="640080" y="5989320"/>
            <a:ext cx="10911535" cy="566928"/>
          </a:xfrm>
          <a:prstGeom prst="roundRect">
            <a:avLst>
              <a:gd name="adj" fmla="val 12903"/>
            </a:avLst>
          </a:prstGeom>
          <a:solidFill>
            <a:srgbClr val="FBF3C4"/>
          </a:solidFill>
          <a:ln w="12700">
            <a:solidFill>
              <a:srgbClr val="FCE38A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822960" y="5989320"/>
            <a:ext cx="10545775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50" i="1" dirty="0">
                <a:solidFill>
                  <a:srgbClr val="3D6B6B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AWSのクラウドサービスを活用した最新のAI観光マッチングアプリ。</a:t>
            </a:r>
            <a:endParaRPr lang="en-US" sz="12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01168" cy="6858000"/>
          </a:xfrm>
          <a:prstGeom prst="rect">
            <a:avLst/>
          </a:prstGeom>
          <a:solidFill>
            <a:srgbClr val="5F8A8A"/>
          </a:solidFill>
          <a:ln/>
        </p:spPr>
      </p:sp>
      <p:sp>
        <p:nvSpPr>
          <p:cNvPr id="3" name="Shape 1"/>
          <p:cNvSpPr/>
          <p:nvPr/>
        </p:nvSpPr>
        <p:spPr>
          <a:xfrm>
            <a:off x="11990527" y="0"/>
            <a:ext cx="201168" cy="6858000"/>
          </a:xfrm>
          <a:prstGeom prst="rect">
            <a:avLst/>
          </a:prstGeom>
          <a:solidFill>
            <a:srgbClr val="5F8A8A"/>
          </a:solidFill>
          <a:ln/>
        </p:spPr>
      </p:sp>
      <p:sp>
        <p:nvSpPr>
          <p:cNvPr id="4" name="Shape 2"/>
          <p:cNvSpPr/>
          <p:nvPr/>
        </p:nvSpPr>
        <p:spPr>
          <a:xfrm>
            <a:off x="3355848" y="256032"/>
            <a:ext cx="5486400" cy="868680"/>
          </a:xfrm>
          <a:prstGeom prst="roundRect">
            <a:avLst>
              <a:gd name="adj" fmla="val 12632"/>
            </a:avLst>
          </a:prstGeom>
          <a:solidFill>
            <a:srgbClr val="FFFFFF"/>
          </a:solidFill>
          <a:ln w="22225">
            <a:solidFill>
              <a:srgbClr val="2A2A28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3355848" y="256032"/>
            <a:ext cx="548640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500" b="1" dirty="0">
                <a:solidFill>
                  <a:srgbClr val="2A2A28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使用データと出典</a:t>
            </a:r>
            <a:endParaRPr lang="en-US" sz="2500" dirty="0"/>
          </a:p>
        </p:txBody>
      </p:sp>
      <p:sp>
        <p:nvSpPr>
          <p:cNvPr id="6" name="Text 4"/>
          <p:cNvSpPr/>
          <p:nvPr/>
        </p:nvSpPr>
        <p:spPr>
          <a:xfrm>
            <a:off x="731520" y="1280160"/>
            <a:ext cx="10728655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3D6B6B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愛媛県のオープンデータ等を各レイヤーに反映。出典を明記します。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11551615" y="6400800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3D6B6B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8</a:t>
            </a:r>
            <a:endParaRPr lang="en-US" sz="1100" dirty="0"/>
          </a:p>
        </p:txBody>
      </p:sp>
      <p:graphicFrame>
        <p:nvGraphicFramePr>
          <p:cNvPr id="10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40080" y="1965960"/>
          <a:ext cx="10911535" cy="914400"/>
        </p:xfrm>
        <a:graphic>
          <a:graphicData uri="http://schemas.openxmlformats.org/drawingml/2006/table">
            <a:tbl>
              <a:tblPr/>
              <a:tblGrid>
                <a:gridCol w="3474720"/>
                <a:gridCol w="3291840"/>
                <a:gridCol w="4142232"/>
              </a:tblGrid>
              <a:tr h="50292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データ</a:t>
                      </a:r>
                      <a:endParaRPr lang="en-US" sz="14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9D6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9D6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9D6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9D6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5F8A8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用途</a:t>
                      </a:r>
                      <a:endParaRPr lang="en-US" sz="14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9D6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9D6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9D6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9D6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5F8A8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出典（資料巻末に記載）</a:t>
                      </a:r>
                      <a:endParaRPr lang="en-US" sz="14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9D6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9D6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9D6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9D6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5F8A8A"/>
                    </a:solidFill>
                  </a:tcPr>
                </a:tc>
              </a:tr>
              <a:tr h="6858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2A2A28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愛媛県 観光スポット情報</a:t>
                      </a:r>
                      <a:endParaRPr lang="en-US" sz="125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9D6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9D6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9D6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9D6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2A2A28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スワイプ / 重ねるマップ</a:t>
                      </a:r>
                      <a:endParaRPr lang="en-US" sz="125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9D6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9D6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9D6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9D6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2A2A28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愛媛県オープンデータ（URL）</a:t>
                      </a:r>
                      <a:endParaRPr lang="en-US" sz="125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9D6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9D6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9D6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9D6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6858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2A2A28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四国八十八ヶ所 札所（第40〜65番）</a:t>
                      </a:r>
                      <a:endParaRPr lang="en-US" sz="125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9D6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9D6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9D6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9D6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2A2A28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お遍路マップ / 進捗管理</a:t>
                      </a:r>
                      <a:endParaRPr lang="en-US" sz="125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9D6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9D6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9D6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9D6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2A2A28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霊場会 公開情報（URL）</a:t>
                      </a:r>
                      <a:endParaRPr lang="en-US" sz="125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9D6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9D6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9D6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9D6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2A2A28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位置情報・地図タイル</a:t>
                      </a:r>
                      <a:endParaRPr lang="en-US" sz="125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9D6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9D6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9D6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9D6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2A2A28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地図表示</a:t>
                      </a:r>
                      <a:endParaRPr lang="en-US" sz="125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9D6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9D6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9D6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9D6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2A2A28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OpenStreetMap</a:t>
                      </a:r>
                      <a:endParaRPr lang="en-US" sz="125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9D6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9D6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9D6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9D6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6858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2A2A28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スポット / 札所の写真</a:t>
                      </a:r>
                      <a:endParaRPr lang="en-US" sz="125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9D6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9D6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9D6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9D6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2A2A28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カード画像</a:t>
                      </a:r>
                      <a:endParaRPr lang="en-US" sz="125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9D6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9D6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9D6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9D6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2A2A28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Wikimedia Commons ほか</a:t>
                      </a:r>
                      <a:endParaRPr lang="en-US" sz="125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9D6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9D6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9D6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9D6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9" name="Shape 6"/>
          <p:cNvSpPr/>
          <p:nvPr/>
        </p:nvSpPr>
        <p:spPr>
          <a:xfrm>
            <a:off x="640080" y="5989320"/>
            <a:ext cx="10911535" cy="566928"/>
          </a:xfrm>
          <a:prstGeom prst="roundRect">
            <a:avLst>
              <a:gd name="adj" fmla="val 12903"/>
            </a:avLst>
          </a:prstGeom>
          <a:solidFill>
            <a:srgbClr val="FBF3C4"/>
          </a:solidFill>
          <a:ln w="12700">
            <a:solidFill>
              <a:srgbClr val="FCE38A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822960" y="5989320"/>
            <a:ext cx="10545775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50" i="1" dirty="0">
                <a:solidFill>
                  <a:srgbClr val="3D6B6B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現在のデモは開発用モックデータで動作。本番では県指定データへ差し替えます。</a:t>
            </a:r>
            <a:endParaRPr lang="en-US" sz="12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01168" cy="6858000"/>
          </a:xfrm>
          <a:prstGeom prst="rect">
            <a:avLst/>
          </a:prstGeom>
          <a:solidFill>
            <a:srgbClr val="5F8A8A"/>
          </a:solidFill>
          <a:ln/>
        </p:spPr>
      </p:sp>
      <p:sp>
        <p:nvSpPr>
          <p:cNvPr id="3" name="Shape 1"/>
          <p:cNvSpPr/>
          <p:nvPr/>
        </p:nvSpPr>
        <p:spPr>
          <a:xfrm>
            <a:off x="11990527" y="0"/>
            <a:ext cx="201168" cy="6858000"/>
          </a:xfrm>
          <a:prstGeom prst="rect">
            <a:avLst/>
          </a:prstGeom>
          <a:solidFill>
            <a:srgbClr val="5F8A8A"/>
          </a:solidFill>
          <a:ln/>
        </p:spPr>
      </p:sp>
      <p:sp>
        <p:nvSpPr>
          <p:cNvPr id="4" name="Shape 2"/>
          <p:cNvSpPr/>
          <p:nvPr/>
        </p:nvSpPr>
        <p:spPr>
          <a:xfrm>
            <a:off x="3355848" y="256032"/>
            <a:ext cx="5486400" cy="868680"/>
          </a:xfrm>
          <a:prstGeom prst="roundRect">
            <a:avLst>
              <a:gd name="adj" fmla="val 12632"/>
            </a:avLst>
          </a:prstGeom>
          <a:solidFill>
            <a:srgbClr val="FFFFFF"/>
          </a:solidFill>
          <a:ln w="22225">
            <a:solidFill>
              <a:srgbClr val="2A2A28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3355848" y="256032"/>
            <a:ext cx="548640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500" b="1" dirty="0">
                <a:solidFill>
                  <a:srgbClr val="2A2A28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Kiroの活用</a:t>
            </a:r>
            <a:endParaRPr lang="en-US" sz="2500" dirty="0"/>
          </a:p>
        </p:txBody>
      </p:sp>
      <p:sp>
        <p:nvSpPr>
          <p:cNvPr id="6" name="Text 4"/>
          <p:cNvSpPr/>
          <p:nvPr/>
        </p:nvSpPr>
        <p:spPr>
          <a:xfrm>
            <a:off x="731520" y="1280160"/>
            <a:ext cx="10728655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3D6B6B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開発環境「Kiro」で、要件→設計→タスクへ分解し、実装と検証を高速に。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11551615" y="6400800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3D6B6B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9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640080" y="2103120"/>
            <a:ext cx="26044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3D6B6B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STEP 1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640080" y="2468880"/>
            <a:ext cx="2604440" cy="1463040"/>
          </a:xfrm>
          <a:prstGeom prst="chevron">
            <a:avLst/>
          </a:prstGeom>
          <a:solidFill>
            <a:srgbClr val="5F8A8A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822960" y="2468880"/>
            <a:ext cx="242156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requirements.md
</a:t>
            </a:r>
            <a:pPr algn="ctr" indent="0" marL="0">
              <a:buNone/>
            </a:pPr>
            <a:r>
              <a:rPr lang="en-US" sz="1200" dirty="0">
                <a:solidFill>
                  <a:srgbClr val="F3F7F6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要件定義</a:t>
            </a:r>
            <a:endParaRPr lang="en-US" sz="1500" dirty="0"/>
          </a:p>
        </p:txBody>
      </p:sp>
      <p:sp>
        <p:nvSpPr>
          <p:cNvPr id="11" name="Text 9"/>
          <p:cNvSpPr/>
          <p:nvPr/>
        </p:nvSpPr>
        <p:spPr>
          <a:xfrm>
            <a:off x="3409112" y="2103120"/>
            <a:ext cx="26044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3D6B6B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STEP 2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3409112" y="2468880"/>
            <a:ext cx="2604440" cy="1463040"/>
          </a:xfrm>
          <a:prstGeom prst="chevron">
            <a:avLst/>
          </a:prstGeom>
          <a:solidFill>
            <a:srgbClr val="5F8A8A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3591992" y="2468880"/>
            <a:ext cx="242156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design.md
</a:t>
            </a:r>
            <a:pPr algn="ctr" indent="0" marL="0">
              <a:buNone/>
            </a:pPr>
            <a:r>
              <a:rPr lang="en-US" sz="1200" dirty="0">
                <a:solidFill>
                  <a:srgbClr val="F3F7F6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設計・プロパティ定義</a:t>
            </a:r>
            <a:endParaRPr lang="en-US" sz="1500" dirty="0"/>
          </a:p>
        </p:txBody>
      </p:sp>
      <p:sp>
        <p:nvSpPr>
          <p:cNvPr id="14" name="Text 12"/>
          <p:cNvSpPr/>
          <p:nvPr/>
        </p:nvSpPr>
        <p:spPr>
          <a:xfrm>
            <a:off x="6178144" y="2103120"/>
            <a:ext cx="26044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3D6B6B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STEP 3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6178144" y="2468880"/>
            <a:ext cx="2604440" cy="1463040"/>
          </a:xfrm>
          <a:prstGeom prst="chevron">
            <a:avLst/>
          </a:prstGeom>
          <a:solidFill>
            <a:srgbClr val="5F8A8A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6361024" y="2468880"/>
            <a:ext cx="242156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tasks.md
</a:t>
            </a:r>
            <a:pPr algn="ctr" indent="0" marL="0">
              <a:buNone/>
            </a:pPr>
            <a:r>
              <a:rPr lang="en-US" sz="1200" dirty="0">
                <a:solidFill>
                  <a:srgbClr val="F3F7F6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実装タスク</a:t>
            </a:r>
            <a:endParaRPr lang="en-US" sz="1500" dirty="0"/>
          </a:p>
        </p:txBody>
      </p:sp>
      <p:sp>
        <p:nvSpPr>
          <p:cNvPr id="17" name="Text 15"/>
          <p:cNvSpPr/>
          <p:nvPr/>
        </p:nvSpPr>
        <p:spPr>
          <a:xfrm>
            <a:off x="8947175" y="2103120"/>
            <a:ext cx="26044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3D6B6B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STEP 4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8947175" y="2468880"/>
            <a:ext cx="2604440" cy="1463040"/>
          </a:xfrm>
          <a:prstGeom prst="chevron">
            <a:avLst/>
          </a:prstGeom>
          <a:solidFill>
            <a:srgbClr val="E8963A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9130055" y="2468880"/>
            <a:ext cx="242156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実装＋自動検証
</a:t>
            </a:r>
            <a:pPr algn="ctr" indent="0" marL="0">
              <a:buNone/>
            </a:pPr>
            <a:r>
              <a:rPr lang="en-US" sz="1200" dirty="0">
                <a:solidFill>
                  <a:srgbClr val="F3F7F6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PBT / 型チェック</a:t>
            </a:r>
            <a:endParaRPr lang="en-US" sz="1500" dirty="0"/>
          </a:p>
        </p:txBody>
      </p:sp>
      <p:sp>
        <p:nvSpPr>
          <p:cNvPr id="20" name="Shape 18"/>
          <p:cNvSpPr/>
          <p:nvPr/>
        </p:nvSpPr>
        <p:spPr>
          <a:xfrm>
            <a:off x="563728" y="4572000"/>
            <a:ext cx="3566160" cy="640080"/>
          </a:xfrm>
          <a:prstGeom prst="roundRect">
            <a:avLst>
              <a:gd name="adj" fmla="val 50000"/>
            </a:avLst>
          </a:prstGeom>
          <a:solidFill>
            <a:srgbClr val="FBF3C4"/>
          </a:solidFill>
          <a:ln w="12700">
            <a:solidFill>
              <a:srgbClr val="FCE38A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563728" y="4572000"/>
            <a:ext cx="35661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2A2A28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✓ AWSはモックに抽象化</a:t>
            </a:r>
            <a:endParaRPr lang="en-US" sz="1250" dirty="0"/>
          </a:p>
        </p:txBody>
      </p:sp>
      <p:sp>
        <p:nvSpPr>
          <p:cNvPr id="22" name="Shape 20"/>
          <p:cNvSpPr/>
          <p:nvPr/>
        </p:nvSpPr>
        <p:spPr>
          <a:xfrm>
            <a:off x="4312768" y="4572000"/>
            <a:ext cx="3566160" cy="640080"/>
          </a:xfrm>
          <a:prstGeom prst="roundRect">
            <a:avLst>
              <a:gd name="adj" fmla="val 50000"/>
            </a:avLst>
          </a:prstGeom>
          <a:solidFill>
            <a:srgbClr val="FBF3C4"/>
          </a:solidFill>
          <a:ln w="12700">
            <a:solidFill>
              <a:srgbClr val="FCE38A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4312768" y="4572000"/>
            <a:ext cx="35661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2A2A28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✓ サブエージェントで実装</a:t>
            </a:r>
            <a:endParaRPr lang="en-US" sz="1250" dirty="0"/>
          </a:p>
        </p:txBody>
      </p:sp>
      <p:sp>
        <p:nvSpPr>
          <p:cNvPr id="24" name="Shape 22"/>
          <p:cNvSpPr/>
          <p:nvPr/>
        </p:nvSpPr>
        <p:spPr>
          <a:xfrm>
            <a:off x="8061808" y="4572000"/>
            <a:ext cx="3566160" cy="640080"/>
          </a:xfrm>
          <a:prstGeom prst="roundRect">
            <a:avLst>
              <a:gd name="adj" fmla="val 50000"/>
            </a:avLst>
          </a:prstGeom>
          <a:solidFill>
            <a:srgbClr val="FBF3C4"/>
          </a:solidFill>
          <a:ln w="12700">
            <a:solidFill>
              <a:srgbClr val="FCE38A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8061808" y="4572000"/>
            <a:ext cx="35661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2A2A28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✓ 要件と実装のズレを自動検知</a:t>
            </a:r>
            <a:endParaRPr lang="en-US" sz="1250" dirty="0"/>
          </a:p>
        </p:txBody>
      </p:sp>
      <p:sp>
        <p:nvSpPr>
          <p:cNvPr id="26" name="Shape 24"/>
          <p:cNvSpPr/>
          <p:nvPr/>
        </p:nvSpPr>
        <p:spPr>
          <a:xfrm>
            <a:off x="640080" y="5989320"/>
            <a:ext cx="10911535" cy="566928"/>
          </a:xfrm>
          <a:prstGeom prst="roundRect">
            <a:avLst>
              <a:gd name="adj" fmla="val 12903"/>
            </a:avLst>
          </a:prstGeom>
          <a:solidFill>
            <a:srgbClr val="FBF3C4"/>
          </a:solidFill>
          <a:ln w="12700">
            <a:solidFill>
              <a:srgbClr val="FCE38A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822960" y="5989320"/>
            <a:ext cx="10545775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50" i="1" dirty="0">
                <a:solidFill>
                  <a:srgbClr val="3D6B6B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.kiro/specs/ehime-tourism-app に requirements / design / tasks が実在します。</a:t>
            </a:r>
            <a:endParaRPr lang="en-US" sz="125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01168" cy="6858000"/>
          </a:xfrm>
          <a:prstGeom prst="rect">
            <a:avLst/>
          </a:prstGeom>
          <a:solidFill>
            <a:srgbClr val="5F8A8A"/>
          </a:solidFill>
          <a:ln/>
        </p:spPr>
      </p:sp>
      <p:sp>
        <p:nvSpPr>
          <p:cNvPr id="3" name="Shape 1"/>
          <p:cNvSpPr/>
          <p:nvPr/>
        </p:nvSpPr>
        <p:spPr>
          <a:xfrm>
            <a:off x="11990527" y="0"/>
            <a:ext cx="201168" cy="6858000"/>
          </a:xfrm>
          <a:prstGeom prst="rect">
            <a:avLst/>
          </a:prstGeom>
          <a:solidFill>
            <a:srgbClr val="5F8A8A"/>
          </a:solidFill>
          <a:ln/>
        </p:spPr>
      </p:sp>
      <p:sp>
        <p:nvSpPr>
          <p:cNvPr id="4" name="Shape 2"/>
          <p:cNvSpPr/>
          <p:nvPr/>
        </p:nvSpPr>
        <p:spPr>
          <a:xfrm>
            <a:off x="3355848" y="256032"/>
            <a:ext cx="5486400" cy="868680"/>
          </a:xfrm>
          <a:prstGeom prst="roundRect">
            <a:avLst>
              <a:gd name="adj" fmla="val 12632"/>
            </a:avLst>
          </a:prstGeom>
          <a:solidFill>
            <a:srgbClr val="FFFFFF"/>
          </a:solidFill>
          <a:ln w="22225">
            <a:solidFill>
              <a:srgbClr val="2A2A28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3355848" y="256032"/>
            <a:ext cx="548640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500" b="1" dirty="0">
                <a:solidFill>
                  <a:srgbClr val="2A2A28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課題対応と成功の目印</a:t>
            </a:r>
            <a:endParaRPr lang="en-US" sz="2500" dirty="0"/>
          </a:p>
        </p:txBody>
      </p:sp>
      <p:sp>
        <p:nvSpPr>
          <p:cNvPr id="6" name="Text 4"/>
          <p:cNvSpPr/>
          <p:nvPr/>
        </p:nvSpPr>
        <p:spPr>
          <a:xfrm>
            <a:off x="11551615" y="6400800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3D6B6B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10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640080" y="1508760"/>
            <a:ext cx="10911535" cy="1280160"/>
          </a:xfrm>
          <a:prstGeom prst="rect">
            <a:avLst/>
          </a:prstGeom>
          <a:solidFill>
            <a:srgbClr val="F4F7F6"/>
          </a:solidFill>
          <a:ln w="9525">
            <a:solidFill>
              <a:srgbClr val="C9D6D4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822960" y="1508760"/>
            <a:ext cx="91440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5F8A8A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1</a:t>
            </a:r>
            <a:endParaRPr lang="en-US" sz="4000" dirty="0"/>
          </a:p>
        </p:txBody>
      </p:sp>
      <p:sp>
        <p:nvSpPr>
          <p:cNvPr id="9" name="Text 7"/>
          <p:cNvSpPr/>
          <p:nvPr/>
        </p:nvSpPr>
        <p:spPr>
          <a:xfrm>
            <a:off x="1828800" y="1645920"/>
            <a:ext cx="310896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E8963A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情報分断の解消と観光周遊促進</a:t>
            </a:r>
            <a:endParaRPr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5029200" y="1600200"/>
            <a:ext cx="64008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2A2A28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分散していた観光情報を一元化し二度手間を解消。「道後温泉だけじゃない愛媛」で県内周遊を促進。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640080" y="2926080"/>
            <a:ext cx="10911535" cy="1280160"/>
          </a:xfrm>
          <a:prstGeom prst="rect">
            <a:avLst/>
          </a:prstGeom>
          <a:solidFill>
            <a:srgbClr val="FFFFFF"/>
          </a:solidFill>
          <a:ln w="9525">
            <a:solidFill>
              <a:srgbClr val="C9D6D4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822960" y="2926080"/>
            <a:ext cx="91440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5F8A8A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2</a:t>
            </a:r>
            <a:endParaRPr lang="en-US" sz="4000" dirty="0"/>
          </a:p>
        </p:txBody>
      </p:sp>
      <p:sp>
        <p:nvSpPr>
          <p:cNvPr id="13" name="Text 11"/>
          <p:cNvSpPr/>
          <p:nvPr/>
        </p:nvSpPr>
        <p:spPr>
          <a:xfrm>
            <a:off x="1828800" y="3063240"/>
            <a:ext cx="310896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E8963A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四国遍路の活性化と多様な訪問者</a:t>
            </a:r>
            <a:endParaRPr lang="en-US" sz="1500" dirty="0"/>
          </a:p>
        </p:txBody>
      </p:sp>
      <p:sp>
        <p:nvSpPr>
          <p:cNvPr id="14" name="Text 12"/>
          <p:cNvSpPr/>
          <p:nvPr/>
        </p:nvSpPr>
        <p:spPr>
          <a:xfrm>
            <a:off x="5029200" y="3017520"/>
            <a:ext cx="64008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2A2A28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愛媛26札所の情報・進捗管理・お遍路マッチを提供。多言語と使いやすいUIで若年層・外国人にも。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640080" y="4343400"/>
            <a:ext cx="10911535" cy="1280160"/>
          </a:xfrm>
          <a:prstGeom prst="rect">
            <a:avLst/>
          </a:prstGeom>
          <a:solidFill>
            <a:srgbClr val="F4F7F6"/>
          </a:solidFill>
          <a:ln w="9525">
            <a:solidFill>
              <a:srgbClr val="C9D6D4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822960" y="4343400"/>
            <a:ext cx="91440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5F8A8A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3</a:t>
            </a:r>
            <a:endParaRPr lang="en-US" sz="4000" dirty="0"/>
          </a:p>
        </p:txBody>
      </p:sp>
      <p:sp>
        <p:nvSpPr>
          <p:cNvPr id="17" name="Text 15"/>
          <p:cNvSpPr/>
          <p:nvPr/>
        </p:nvSpPr>
        <p:spPr>
          <a:xfrm>
            <a:off x="1828800" y="4480560"/>
            <a:ext cx="310896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E8963A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旅行者 約2割の利用目標</a:t>
            </a:r>
            <a:endParaRPr lang="en-US" sz="1500" dirty="0"/>
          </a:p>
        </p:txBody>
      </p:sp>
      <p:sp>
        <p:nvSpPr>
          <p:cNvPr id="18" name="Text 16"/>
          <p:cNvSpPr/>
          <p:nvPr/>
        </p:nvSpPr>
        <p:spPr>
          <a:xfrm>
            <a:off x="5029200" y="4434840"/>
            <a:ext cx="64008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2A2A28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愛媛を訪れる旅行者の約2割の利用を成功目標に。愛媛の自然・文化・みかんの魅力を広く発信。</a:t>
            </a:r>
            <a:endParaRPr lang="en-US" sz="13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01168" cy="6858000"/>
          </a:xfrm>
          <a:prstGeom prst="rect">
            <a:avLst/>
          </a:prstGeom>
          <a:solidFill>
            <a:srgbClr val="5F8A8A"/>
          </a:solidFill>
          <a:ln/>
        </p:spPr>
      </p:sp>
      <p:sp>
        <p:nvSpPr>
          <p:cNvPr id="3" name="Shape 1"/>
          <p:cNvSpPr/>
          <p:nvPr/>
        </p:nvSpPr>
        <p:spPr>
          <a:xfrm>
            <a:off x="11990527" y="0"/>
            <a:ext cx="201168" cy="6858000"/>
          </a:xfrm>
          <a:prstGeom prst="rect">
            <a:avLst/>
          </a:prstGeom>
          <a:solidFill>
            <a:srgbClr val="5F8A8A"/>
          </a:solidFill>
          <a:ln/>
        </p:spPr>
      </p:sp>
      <p:sp>
        <p:nvSpPr>
          <p:cNvPr id="4" name="Shape 2"/>
          <p:cNvSpPr/>
          <p:nvPr/>
        </p:nvSpPr>
        <p:spPr>
          <a:xfrm>
            <a:off x="3355848" y="457200"/>
            <a:ext cx="5486400" cy="868680"/>
          </a:xfrm>
          <a:prstGeom prst="roundRect">
            <a:avLst>
              <a:gd name="adj" fmla="val 12632"/>
            </a:avLst>
          </a:prstGeom>
          <a:solidFill>
            <a:srgbClr val="FFFFFF"/>
          </a:solidFill>
          <a:ln w="22225">
            <a:solidFill>
              <a:srgbClr val="2A2A28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3355848" y="457200"/>
            <a:ext cx="548640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2A2A28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愛媛の魅力を、次の世代へ</a:t>
            </a:r>
            <a:endParaRPr lang="en-US" sz="2400" dirty="0"/>
          </a:p>
        </p:txBody>
      </p:sp>
      <p:sp>
        <p:nvSpPr>
          <p:cNvPr id="6" name="Text 4"/>
          <p:cNvSpPr/>
          <p:nvPr/>
        </p:nvSpPr>
        <p:spPr>
          <a:xfrm>
            <a:off x="914400" y="1737360"/>
            <a:ext cx="10362895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3D6B6B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「Match」は、SNS世代が愛媛をもっと好きになるアプリ</a:t>
            </a:r>
            <a:endParaRPr lang="en-US" sz="2000" dirty="0"/>
          </a:p>
        </p:txBody>
      </p:sp>
      <p:sp>
        <p:nvSpPr>
          <p:cNvPr id="7" name="Text 5"/>
          <p:cNvSpPr/>
          <p:nvPr/>
        </p:nvSpPr>
        <p:spPr>
          <a:xfrm>
            <a:off x="1371600" y="2651760"/>
            <a:ext cx="9448495" cy="3291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10000"/>
              </a:lnSpc>
              <a:buNone/>
            </a:pPr>
            <a:r>
              <a:rPr lang="en-US" sz="1800" dirty="0">
                <a:solidFill>
                  <a:srgbClr val="2A2A28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観光地との出会いを、スワイプひとつで。</a:t>
            </a:r>
            <a:endParaRPr lang="en-US" sz="1800" dirty="0"/>
          </a:p>
          <a:p>
            <a:pPr algn="ctr" indent="0" marL="0">
              <a:lnSpc>
                <a:spcPct val="110000"/>
              </a:lnSpc>
              <a:buNone/>
            </a:pPr>
            <a:endParaRPr lang="en-US" sz="1800" dirty="0"/>
          </a:p>
          <a:p>
            <a:pPr algn="ctr" indent="0" marL="0">
              <a:lnSpc>
                <a:spcPct val="110000"/>
              </a:lnSpc>
              <a:buNone/>
            </a:pPr>
            <a:r>
              <a:rPr lang="en-US" sz="1800" dirty="0">
                <a:solidFill>
                  <a:srgbClr val="2A2A28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AIが、あなただけの旅プランを作ります。</a:t>
            </a:r>
            <a:endParaRPr lang="en-US" sz="1800" dirty="0"/>
          </a:p>
          <a:p>
            <a:pPr algn="ctr" indent="0" marL="0">
              <a:lnSpc>
                <a:spcPct val="110000"/>
              </a:lnSpc>
              <a:buNone/>
            </a:pPr>
            <a:endParaRPr lang="en-US" sz="1800" dirty="0"/>
          </a:p>
          <a:p>
            <a:pPr algn="ctr" indent="0" marL="0">
              <a:lnSpc>
                <a:spcPct val="110000"/>
              </a:lnSpc>
              <a:buNone/>
            </a:pPr>
            <a:r>
              <a:rPr lang="en-US" sz="1800" dirty="0">
                <a:solidFill>
                  <a:srgbClr val="2A2A28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お遍路も、もっと身近に、もっと楽しく。</a:t>
            </a:r>
            <a:endParaRPr lang="en-US" sz="1800" dirty="0"/>
          </a:p>
          <a:p>
            <a:pPr algn="ctr" indent="0" marL="0">
              <a:lnSpc>
                <a:spcPct val="110000"/>
              </a:lnSpc>
              <a:buNone/>
            </a:pPr>
            <a:endParaRPr lang="en-US" sz="1800" dirty="0"/>
          </a:p>
          <a:p>
            <a:pPr algn="ctr" indent="0" marL="0">
              <a:lnSpc>
                <a:spcPct val="110000"/>
              </a:lnSpc>
              <a:buNone/>
            </a:pPr>
            <a:r>
              <a:rPr lang="en-US" sz="1800" dirty="0">
                <a:solidFill>
                  <a:srgbClr val="2A2A28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愛媛の島々、みかんの香り、瀬戸内の青い海。</a:t>
            </a:r>
            <a:endParaRPr lang="en-US" sz="1800" dirty="0"/>
          </a:p>
          <a:p>
            <a:pPr algn="ctr" indent="0" marL="0">
              <a:lnSpc>
                <a:spcPct val="110000"/>
              </a:lnSpc>
              <a:buNone/>
            </a:pPr>
            <a:endParaRPr lang="en-US" sz="1800" dirty="0"/>
          </a:p>
          <a:p>
            <a:pPr algn="ctr" indent="0" marL="0">
              <a:lnSpc>
                <a:spcPct val="110000"/>
              </a:lnSpc>
              <a:buNone/>
            </a:pPr>
            <a:r>
              <a:rPr lang="en-US" sz="1800" dirty="0">
                <a:solidFill>
                  <a:srgbClr val="2A2A28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「Match」で、新しい旅の形を一緒に作りましょう。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11551615" y="6400800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3D6B6B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11</a:t>
            </a:r>
            <a:endParaRPr lang="en-US" sz="11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5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2026-07-03T03:55:45Z</dcterms:created>
  <dcterms:modified xsi:type="dcterms:W3CDTF">2026-07-03T03:55:45Z</dcterms:modified>
</cp:coreProperties>
</file>