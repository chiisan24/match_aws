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F8A8A"/>
          </a:solidFill>
          <a:ln/>
        </p:spPr>
      </p:sp>
      <p:sp>
        <p:nvSpPr>
          <p:cNvPr id="3" name="Shape 1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5F8A8A"/>
          </a:solidFill>
          <a:ln/>
        </p:spPr>
      </p:sp>
      <p:sp>
        <p:nvSpPr>
          <p:cNvPr id="4" name="Shape 2"/>
          <p:cNvSpPr/>
          <p:nvPr/>
        </p:nvSpPr>
        <p:spPr>
          <a:xfrm>
            <a:off x="3355848" y="256032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2A2A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55848" y="256032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システム全体像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スワイプ・会話・地図の3操作を、共通ゲートウェイがAWSの各サービスへつなぎます。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3017520" cy="1554480"/>
          </a:xfrm>
          <a:prstGeom prst="roundRect">
            <a:avLst>
              <a:gd name="adj" fmla="val 5882"/>
            </a:avLst>
          </a:prstGeom>
          <a:solidFill>
            <a:srgbClr val="EAF3F2"/>
          </a:solidFill>
          <a:ln w="19050">
            <a:solidFill>
              <a:srgbClr val="5F8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4884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ユーザー操作
</a:t>
            </a:r>
            <a:pPr algn="ctr" indent="0" marL="0">
              <a:buNone/>
            </a:pPr>
            <a:r>
              <a:rPr lang="en-US" sz="1300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スワイプ / 会話 / 地図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703320" y="2697480"/>
            <a:ext cx="548640" cy="457200"/>
          </a:xfrm>
          <a:prstGeom prst="rightArrow">
            <a:avLst/>
          </a:prstGeom>
          <a:solidFill>
            <a:srgbClr val="E8963A"/>
          </a:solidFill>
          <a:ln/>
        </p:spPr>
      </p:sp>
      <p:sp>
        <p:nvSpPr>
          <p:cNvPr id="10" name="Shape 8"/>
          <p:cNvSpPr/>
          <p:nvPr/>
        </p:nvSpPr>
        <p:spPr>
          <a:xfrm>
            <a:off x="4297680" y="2148840"/>
            <a:ext cx="3017520" cy="1554480"/>
          </a:xfrm>
          <a:prstGeom prst="roundRect">
            <a:avLst>
              <a:gd name="adj" fmla="val 5882"/>
            </a:avLst>
          </a:prstGeom>
          <a:solidFill>
            <a:srgbClr val="FBF3C4"/>
          </a:solidFill>
          <a:ln w="19050">
            <a:solidFill>
              <a:srgbClr val="E896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214884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共通ゲートウェイ
</a:t>
            </a:r>
            <a:pPr algn="ctr" indent="0" marL="0">
              <a:buNone/>
            </a:pPr>
            <a:r>
              <a:rPr lang="en-US" sz="1300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機能の窓口・ポート抽象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60920" y="2697480"/>
            <a:ext cx="548640" cy="457200"/>
          </a:xfrm>
          <a:prstGeom prst="rightArrow">
            <a:avLst/>
          </a:prstGeom>
          <a:solidFill>
            <a:srgbClr val="E8963A"/>
          </a:solidFill>
          <a:ln/>
        </p:spPr>
      </p:sp>
      <p:sp>
        <p:nvSpPr>
          <p:cNvPr id="13" name="Shape 11"/>
          <p:cNvSpPr/>
          <p:nvPr/>
        </p:nvSpPr>
        <p:spPr>
          <a:xfrm>
            <a:off x="7955280" y="1828800"/>
            <a:ext cx="3593592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5F8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1892808"/>
            <a:ext cx="3593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 サービス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83880" y="2331720"/>
            <a:ext cx="3136392" cy="384048"/>
          </a:xfrm>
          <a:prstGeom prst="roundRect">
            <a:avLst>
              <a:gd name="adj" fmla="val 47619"/>
            </a:avLst>
          </a:prstGeom>
          <a:solidFill>
            <a:srgbClr val="EAF3F2"/>
          </a:solidFill>
          <a:ln w="9525">
            <a:solidFill>
              <a:srgbClr val="C9D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83880" y="2331720"/>
            <a:ext cx="3136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Amazon Bedrock（AI・画像）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83880" y="2788920"/>
            <a:ext cx="3136392" cy="384048"/>
          </a:xfrm>
          <a:prstGeom prst="roundRect">
            <a:avLst>
              <a:gd name="adj" fmla="val 47619"/>
            </a:avLst>
          </a:prstGeom>
          <a:solidFill>
            <a:srgbClr val="EAF3F2"/>
          </a:solidFill>
          <a:ln w="9525">
            <a:solidFill>
              <a:srgbClr val="C9D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83880" y="2788920"/>
            <a:ext cx="3136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 Lambda（処理）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83880" y="3246120"/>
            <a:ext cx="3136392" cy="384048"/>
          </a:xfrm>
          <a:prstGeom prst="roundRect">
            <a:avLst>
              <a:gd name="adj" fmla="val 47619"/>
            </a:avLst>
          </a:prstGeom>
          <a:solidFill>
            <a:srgbClr val="EAF3F2"/>
          </a:solidFill>
          <a:ln w="9525">
            <a:solidFill>
              <a:srgbClr val="C9D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3246120"/>
            <a:ext cx="3136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Amazon DynamoDB（保存）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83880" y="3703320"/>
            <a:ext cx="3136392" cy="384048"/>
          </a:xfrm>
          <a:prstGeom prst="roundRect">
            <a:avLst>
              <a:gd name="adj" fmla="val 47619"/>
            </a:avLst>
          </a:prstGeom>
          <a:solidFill>
            <a:srgbClr val="EAF3F2"/>
          </a:solidFill>
          <a:ln w="9525">
            <a:solidFill>
              <a:srgbClr val="C9D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83880" y="3703320"/>
            <a:ext cx="3136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Amazon Location Service（地図）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5989320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FBF3C4"/>
          </a:solidFill>
          <a:ln w="12700">
            <a:solidFill>
              <a:srgbClr val="FCE3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989320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AWS依存はモックに抽象化 — クラウド未接続でも全機能をデモ可能。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F8A8A"/>
          </a:solidFill>
          <a:ln/>
        </p:spPr>
      </p:sp>
      <p:sp>
        <p:nvSpPr>
          <p:cNvPr id="3" name="Shape 1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5F8A8A"/>
          </a:solidFill>
          <a:ln/>
        </p:spPr>
      </p:sp>
      <p:sp>
        <p:nvSpPr>
          <p:cNvPr id="4" name="Shape 2"/>
          <p:cNvSpPr/>
          <p:nvPr/>
        </p:nvSpPr>
        <p:spPr>
          <a:xfrm>
            <a:off x="3355848" y="256032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2A2A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55848" y="256032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Kiroの活用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開発環境「Kiro」で、要件→設計→タスクへ分解し、実装と検証を高速に回しました。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2604440" cy="1554480"/>
          </a:xfrm>
          <a:prstGeom prst="chevron">
            <a:avLst/>
          </a:prstGeom>
          <a:solidFill>
            <a:srgbClr val="5F8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468880"/>
            <a:ext cx="2421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requirements.md
</a:t>
            </a:r>
            <a:pPr algn="ctr" indent="0" marL="0">
              <a:buNone/>
            </a:pPr>
            <a:r>
              <a:rPr lang="en-US" sz="1200" dirty="0">
                <a:solidFill>
                  <a:srgbClr val="F3F7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要件定義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260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09112" y="2468880"/>
            <a:ext cx="2604440" cy="1554480"/>
          </a:xfrm>
          <a:prstGeom prst="chevron">
            <a:avLst/>
          </a:prstGeom>
          <a:solidFill>
            <a:srgbClr val="5F8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91992" y="2468880"/>
            <a:ext cx="2421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design.md
</a:t>
            </a:r>
            <a:pPr algn="ctr" indent="0" marL="0">
              <a:buNone/>
            </a:pPr>
            <a:r>
              <a:rPr lang="en-US" sz="1200" dirty="0">
                <a:solidFill>
                  <a:srgbClr val="F3F7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設計・プロパティ定義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09112" y="2103120"/>
            <a:ext cx="260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8144" y="2468880"/>
            <a:ext cx="2604440" cy="1554480"/>
          </a:xfrm>
          <a:prstGeom prst="chevron">
            <a:avLst/>
          </a:prstGeom>
          <a:solidFill>
            <a:srgbClr val="5F8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1024" y="2468880"/>
            <a:ext cx="2421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tasks.md
</a:t>
            </a:r>
            <a:pPr algn="ctr" indent="0" marL="0">
              <a:buNone/>
            </a:pPr>
            <a:r>
              <a:rPr lang="en-US" sz="1200" dirty="0">
                <a:solidFill>
                  <a:srgbClr val="F3F7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実装タスク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78144" y="2103120"/>
            <a:ext cx="260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47175" y="2468880"/>
            <a:ext cx="2604440" cy="1554480"/>
          </a:xfrm>
          <a:prstGeom prst="chevron">
            <a:avLst/>
          </a:prstGeom>
          <a:solidFill>
            <a:srgbClr val="E896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30055" y="2468880"/>
            <a:ext cx="2421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実装＋自動検証
</a:t>
            </a:r>
            <a:pPr algn="ctr" indent="0" marL="0">
              <a:buNone/>
            </a:pPr>
            <a:r>
              <a:rPr lang="en-US" sz="1200" dirty="0">
                <a:solidFill>
                  <a:srgbClr val="F3F7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PBT / 型チェック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947175" y="2103120"/>
            <a:ext cx="260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3728" y="4572000"/>
            <a:ext cx="3566160" cy="640080"/>
          </a:xfrm>
          <a:prstGeom prst="roundRect">
            <a:avLst>
              <a:gd name="adj" fmla="val 50000"/>
            </a:avLst>
          </a:prstGeom>
          <a:solidFill>
            <a:srgbClr val="FBF3C4"/>
          </a:solidFill>
          <a:ln w="12700">
            <a:solidFill>
              <a:srgbClr val="FCE3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3728" y="45720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AWSはモックに抽象化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12768" y="4572000"/>
            <a:ext cx="3566160" cy="640080"/>
          </a:xfrm>
          <a:prstGeom prst="roundRect">
            <a:avLst>
              <a:gd name="adj" fmla="val 50000"/>
            </a:avLst>
          </a:prstGeom>
          <a:solidFill>
            <a:srgbClr val="FBF3C4"/>
          </a:solidFill>
          <a:ln w="12700">
            <a:solidFill>
              <a:srgbClr val="FCE3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12768" y="45720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サブエージェントでタスク実装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61808" y="4572000"/>
            <a:ext cx="3566160" cy="640080"/>
          </a:xfrm>
          <a:prstGeom prst="roundRect">
            <a:avLst>
              <a:gd name="adj" fmla="val 50000"/>
            </a:avLst>
          </a:prstGeom>
          <a:solidFill>
            <a:srgbClr val="FBF3C4"/>
          </a:solidFill>
          <a:ln w="12700">
            <a:solidFill>
              <a:srgbClr val="FCE3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61808" y="45720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要件と実装のズレを自動検知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5989320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FBF3C4"/>
          </a:solidFill>
          <a:ln w="12700">
            <a:solidFill>
              <a:srgbClr val="FCE3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989320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リポジトリの .kiro/specs/ehime-tourism-app に requirements / design / tasks が実在します。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F8A8A"/>
          </a:solidFill>
          <a:ln/>
        </p:spPr>
      </p:sp>
      <p:sp>
        <p:nvSpPr>
          <p:cNvPr id="3" name="Shape 1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5F8A8A"/>
          </a:solidFill>
          <a:ln/>
        </p:spPr>
      </p:sp>
      <p:sp>
        <p:nvSpPr>
          <p:cNvPr id="4" name="Shape 2"/>
          <p:cNvSpPr/>
          <p:nvPr/>
        </p:nvSpPr>
        <p:spPr>
          <a:xfrm>
            <a:off x="3355848" y="256032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2A2A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55848" y="256032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使用データと出典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愛媛県のオープンデータ等を各レイヤーに反映。出典を明記します。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3291840"/>
                <a:gridCol w="414223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データ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8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用途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8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出典（資料巻末に記載）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8A8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A2A2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愛媛県 観光スポット情報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A2A2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スワイプ / 重ねるマップ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A2A2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愛媛県オープンデータ（URL）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A2A2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四国八十八ヶ所 札所（第40〜65番）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A2A2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お遍路マップ / 進捗管理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A2A2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札所・霊場会 公開情報（URL）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A2A2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位置情報・地図タイル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A2A2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地図表示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A2A2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OpenStreetMap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A2A2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スポット / 札所の写真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A2A2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カード画像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A2A2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Wikimedia Commons ほか（各ファイル出典）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5989320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FBF3C4"/>
          </a:solidFill>
          <a:ln w="12700">
            <a:solidFill>
              <a:srgbClr val="FCE3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989320"/>
            <a:ext cx="1054577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3D6B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現在のデモは開発用のモックデータで動作。本番では県指定データへ差し替えます。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2026-07-03T02:48:19Z</dcterms:created>
  <dcterms:modified xsi:type="dcterms:W3CDTF">2026-07-03T02:48:19Z</dcterms:modified>
</cp:coreProperties>
</file>